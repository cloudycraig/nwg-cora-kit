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12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embeddedFontLst>
    <p:embeddedFont>
      <p:font typeface="CiscoSansTT" panose="020B0503020201020303" pitchFamily="34" charset="0"/>
      <p:regular r:id="rId20"/>
      <p:bold r:id="rId21"/>
      <p:italic r:id="rId22"/>
      <p:boldItalic r:id="rId23"/>
    </p:embeddedFont>
    <p:embeddedFont>
      <p:font typeface="CiscoSansTT Medium" panose="020B0903020201090303"/>
      <p:regular r:id="rId24"/>
      <p: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C4C90F0F-BED1-0E48-A6CF-8817FC41D70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Workshop" id="{A56D91FC-C435-DA45-8895-DB43AE0515C0}">
          <p14:sldIdLst/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F26B43"/>
          </p15:clr>
        </p15:guide>
        <p15:guide id="3" orient="horz" pos="2160" userDrawn="1">
          <p15:clr>
            <a:srgbClr val="F26B43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DE2"/>
    <a:srgbClr val="EB4651"/>
    <a:srgbClr val="45991F"/>
    <a:srgbClr val="B4B9C0"/>
    <a:srgbClr val="525E6C"/>
    <a:srgbClr val="6B6B6B"/>
    <a:srgbClr val="D6D6D6"/>
    <a:srgbClr val="FF9000"/>
    <a:srgbClr val="FF007F"/>
    <a:srgbClr val="0A6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/>
    <p:restoredTop sz="94635"/>
  </p:normalViewPr>
  <p:slideViewPr>
    <p:cSldViewPr snapToGrid="0">
      <p:cViewPr varScale="1">
        <p:scale>
          <a:sx n="120" d="100"/>
          <a:sy n="120" d="100"/>
        </p:scale>
        <p:origin x="680" y="17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 Serieys (mserieys)" userId="366f8bd7-c9d9-434b-b2ee-8e0708712db4" providerId="ADAL" clId="{E15F2CE2-348E-508F-B15A-44D26921E01E}"/>
    <pc:docChg chg="custSel modSld">
      <pc:chgData name="Marc Serieys (mserieys)" userId="366f8bd7-c9d9-434b-b2ee-8e0708712db4" providerId="ADAL" clId="{E15F2CE2-348E-508F-B15A-44D26921E01E}" dt="2026-06-15T08:34:58.866" v="8" actId="207"/>
      <pc:docMkLst>
        <pc:docMk/>
      </pc:docMkLst>
      <pc:sldChg chg="modSp mod">
        <pc:chgData name="Marc Serieys (mserieys)" userId="366f8bd7-c9d9-434b-b2ee-8e0708712db4" providerId="ADAL" clId="{E15F2CE2-348E-508F-B15A-44D26921E01E}" dt="2026-06-15T08:34:58.866" v="8" actId="207"/>
        <pc:sldMkLst>
          <pc:docMk/>
          <pc:sldMk cId="0" sldId="265"/>
        </pc:sldMkLst>
        <pc:graphicFrameChg chg="modGraphic">
          <ac:chgData name="Marc Serieys (mserieys)" userId="366f8bd7-c9d9-434b-b2ee-8e0708712db4" providerId="ADAL" clId="{E15F2CE2-348E-508F-B15A-44D26921E01E}" dt="2026-06-15T08:34:58.866" v="8" actId="207"/>
          <ac:graphicFrameMkLst>
            <pc:docMk/>
            <pc:sldMk cId="0" sldId="265"/>
            <ac:graphicFrameMk id="4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72104B-A22A-485F-8181-8B2CD5833538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B4990-0A23-4A10-BE7D-7E64CAB85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20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Hold the cover for one beat. Don't read the title.</a:t>
            </a:r>
          </a:p>
          <a:p>
            <a:endParaRPr/>
          </a:p>
          <a:p>
            <a:r>
              <a:t>Frame the room: 'Before I show you any tools, I want to frame the question this room asks every day. Not is our trace pipeline working - but is my card-payment business healthy right now? And if it isn't, who's affected, where, and what are we doing about it?'</a:t>
            </a:r>
          </a:p>
          <a:p>
            <a:endParaRPr/>
          </a:p>
          <a:p>
            <a:r>
              <a:t>Move on after roughly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hook. Two-beat pause after the heading, then bridge into slide 3.</a:t>
            </a:r>
          </a:p>
          <a:p>
            <a:endParaRPr/>
          </a:p>
          <a:p>
            <a:r>
              <a:t>'Same trace. Same data plane. Different audience - yours.'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four questions slowly. Pace yourself; this is the slide the audience tests you against for the rest of the talk.</a:t>
            </a:r>
          </a:p>
          <a:p>
            <a:endParaRPr/>
          </a:p>
          <a:p>
            <a:r>
              <a:t>Closing line: 'Those four questions are the entire reason ITSI sits on top of Splunk Observability. Everything you'll see in the next ten minutes is a direct answer to one of them.'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journey once, left to right, in roughly 60 seconds.</a:t>
            </a:r>
          </a:p>
          <a:p>
            <a:endParaRPr/>
          </a:p>
          <a:p>
            <a:r>
              <a:t>The point to land: 'Each step is a roll-up of 3-5 underlying services. Each underlying service is instrumented with the same OpenTelemetry SDK. So when a step turns red, you don't just know something's wrong - you know which stage of the journey is wrong, on the same screen.'</a:t>
            </a:r>
          </a:p>
          <a:p>
            <a:endParaRPr/>
          </a:p>
          <a:p>
            <a:r>
              <a:t>Don't read every service name aloud. The columns are anchors.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seconds.</a:t>
            </a:r>
          </a:p>
          <a:p>
            <a:endParaRPr/>
          </a:p>
          <a:p>
            <a:r>
              <a:t>'Let me show you what that looks like, live.'</a:t>
            </a:r>
          </a:p>
          <a:p>
            <a:endParaRPr/>
          </a:p>
          <a:p>
            <a:r>
              <a:t>Switch to the browser tab with the new Card-Payments Journey glass table. Tab title: 'NatWest Card Payments - Journey Glass Table'.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DON'T go back to the deck during this beat - the slide is a reference only. Spend ~90 seconds talking over the live glass table.</a:t>
            </a:r>
          </a:p>
          <a:p>
            <a:endParaRPr/>
          </a:p>
          <a:p>
            <a:r>
              <a:t>Walk the bands top-to-bottom:</a:t>
            </a:r>
          </a:p>
          <a:p>
            <a:r>
              <a:t>  1. Headline strip - the five numbers that answer the four      board questions.</a:t>
            </a:r>
          </a:p>
          <a:p>
            <a:r>
              <a:t>  2. Journey row - all green; each tile = worst-of its      children, NOT an average.</a:t>
            </a:r>
          </a:p>
          <a:p>
            <a:r>
              <a:t>  3. Infrastructure row - the pillars.</a:t>
            </a:r>
          </a:p>
          <a:p>
            <a:r>
              <a:t>  4. Geo + chaos timeline at the bottom.</a:t>
            </a:r>
          </a:p>
          <a:p>
            <a:endParaRPr/>
          </a:p>
          <a:p>
            <a:r>
              <a:t>Tease: 'That timeline at the bottom is going to come alive in about three minutes.'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Come back to the deck for roughly 60 seconds.</a:t>
            </a:r>
          </a:p>
          <a:p>
            <a:endParaRPr/>
          </a:p>
          <a:p>
            <a:r>
              <a:t>Land three points:</a:t>
            </a:r>
          </a:p>
          <a:p>
            <a:r>
              <a:t>  1. The headline number is deterministic, not a vibe - it's      a roll-up across 4 layers.</a:t>
            </a:r>
          </a:p>
          <a:p>
            <a:r>
              <a:t>  2. You can walk down the tree from L1 to the exact KPI that      triggered a drop. Anyone in the room can do that walk.</a:t>
            </a:r>
          </a:p>
          <a:p>
            <a:r>
              <a:t>  3. KPI weights are how we keep the score honest -      load-bearing KPIs (brokers online, db size, cache      clients) get weight 11; noisy ones get weight 1.</a:t>
            </a:r>
          </a:p>
          <a:p>
            <a:endParaRPr/>
          </a:p>
          <a:p>
            <a:r>
              <a:t>Optional: click into Service Analyzer on nwpay_l4_redis if the audience is engaged. 30 seconds 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seconds.</a:t>
            </a:r>
          </a:p>
          <a:p>
            <a:endParaRPr/>
          </a:p>
          <a:p>
            <a:r>
              <a:t>'All of that is the boring slide. Let me make it interesting - let's break something on purpose and watch the board react.'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60 seconds. Audience needs to be reassured this is controlled, not cowboy.</a:t>
            </a:r>
          </a:p>
          <a:p>
            <a:endParaRPr/>
          </a:p>
          <a:p>
            <a:r>
              <a:t>Land the two safety beats:</a:t>
            </a:r>
          </a:p>
          <a:p>
            <a:r>
              <a:t>  1. Namespace-scoped RBAC - the controller can't touch      anything outside the natwest namespace.</a:t>
            </a:r>
          </a:p>
          <a:p>
            <a:r>
              <a:t>  2. Every action is audited and feeds the glass-table      chaos-timeline panel. When a tile turns red there's      never any mystery about why.</a:t>
            </a:r>
          </a:p>
          <a:p>
            <a:endParaRPr/>
          </a:p>
          <a:p>
            <a:r>
              <a:t>Then pre-narrate: 'I'm about to inject redis-outage. Redis is where we cache customer session data and rate-limit lookups, so expect Authorise and Process to feel it first.'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centrepiece. 3-4 minutes total, mostly LIVE.</a:t>
            </a:r>
          </a:p>
          <a:p>
            <a:endParaRPr/>
          </a:p>
          <a:p>
            <a:r>
              <a:t>Flow:</a:t>
            </a:r>
          </a:p>
          <a:p>
            <a:r>
              <a:t>  - Switch to the SPA Chaos Dashboard, click Inject on     redis-outage.</a:t>
            </a:r>
          </a:p>
          <a:p>
            <a:r>
              <a:t>  - Switch back to the glass table tab. Narrate the spread.</a:t>
            </a:r>
          </a:p>
          <a:p>
            <a:r>
              <a:t>  - Hold on the red board for ~ 10 seconds. LET IT LAND.</a:t>
            </a:r>
          </a:p>
          <a:p>
            <a:endParaRPr/>
          </a:p>
          <a:p>
            <a:r>
              <a:t>The single most important line to land:</a:t>
            </a:r>
          </a:p>
          <a:p>
            <a:r>
              <a:t>  'If your team ever asks is this a real outage or did   someone trigger a test, that timeline bar is your answer.'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Switch to the Chaos Dashboard, click Clear on redis-outage. Then switch back to the glass table tab so the recovery is happening behind you while you talk.</a:t>
            </a:r>
          </a:p>
          <a:p>
            <a:endParaRPr/>
          </a:p>
          <a:p>
            <a:r>
              <a:t>Land the hysteresis design choice explicitly - it's the difference between a board you trust and a board that lies to you when something is half-up.</a:t>
            </a:r>
          </a:p>
          <a:p>
            <a:endParaRPr/>
          </a:p>
          <a:p>
            <a:r>
              <a:t>Closing line:</a:t>
            </a:r>
          </a:p>
          <a:p>
            <a:r>
              <a:t>  'When the real Tuesday comes, they're not looking at   three dashboards - they're looking at this one.'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 for two beats after the heading.</a:t>
            </a:r>
          </a:p>
          <a:p>
            <a:endParaRPr/>
          </a:p>
          <a:p>
            <a:r>
              <a:t>'That alignment is the single biggest thing ITSI does for a payments business. It collapses the translation tier between operations and the business.'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ask. Be explicit.</a:t>
            </a:r>
          </a:p>
          <a:p>
            <a:endParaRPr/>
          </a:p>
          <a:p>
            <a:r>
              <a:t>'I want to spend a half-day with your team. Two outcomes - an L1 service modelled the way the business thinks, and one chaos scenario you actually fear, run in the room.'</a:t>
            </a:r>
          </a:p>
          <a:p>
            <a:endParaRPr/>
          </a:p>
          <a:p>
            <a:r>
              <a:t>Pause. Do not pitch beyond this slide. Wait for the next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Final slide. Hand out the access details if appropriate.</a:t>
            </a:r>
          </a:p>
          <a:p>
            <a:endParaRPr/>
          </a:p>
          <a:p>
            <a:r>
              <a:t>Recovery one-liner if anything is left injected:</a:t>
            </a:r>
          </a:p>
          <a:p>
            <a:r>
              <a:t>  scripts/incident.sh recover</a:t>
            </a:r>
          </a:p>
          <a:p>
            <a:r>
              <a:t>  kubectl -n natwest get pods | grep -v Running   # should be empty</a:t>
            </a:r>
          </a:p>
          <a:p>
            <a:endParaRPr/>
          </a:p>
          <a:p>
            <a:r>
              <a:t>Full talk track and Q&amp;A guide: docs/presentation/ITSI_DECK_TALK_TRACK.md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871345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512820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4061400"/>
            <a:ext cx="5048090" cy="4572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676458"/>
            <a:ext cx="5047270" cy="459455"/>
          </a:xfrm>
          <a:noFill/>
        </p:spPr>
        <p:txBody>
          <a:bodyPr anchor="t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23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, Two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92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244600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2886075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3428789"/>
            <a:ext cx="5048090" cy="457200"/>
          </a:xfr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051300"/>
            <a:ext cx="5047270" cy="459455"/>
          </a:xfrm>
          <a:noFill/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E61D1-59EB-7A86-0D12-9388193F45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49" y="4681134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 marL="182880" indent="0">
              <a:spcAft>
                <a:spcPts val="0"/>
              </a:spcAft>
              <a:buNone/>
              <a:defRPr sz="1400"/>
            </a:lvl2pPr>
            <a:lvl3pPr marL="365760" indent="0">
              <a:spcAft>
                <a:spcPts val="0"/>
              </a:spcAft>
              <a:buNone/>
              <a:defRPr sz="1200"/>
            </a:lvl3pPr>
            <a:lvl4pPr marL="548640" indent="0">
              <a:spcAft>
                <a:spcPts val="0"/>
              </a:spcAft>
              <a:buNone/>
              <a:defRPr sz="1100"/>
            </a:lvl4pPr>
            <a:lvl5pPr marL="731520" indent="0">
              <a:spcAft>
                <a:spcPts val="0"/>
              </a:spcAft>
              <a:buNone/>
              <a:defRPr sz="1050"/>
            </a:lvl5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Speaker Name</a:t>
            </a:r>
          </a:p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75C0FC-DD02-0704-8A17-1B3037F861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848" y="5306439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  <a:lvl2pPr marL="182880" indent="0">
              <a:buNone/>
              <a:defRPr sz="1200"/>
            </a:lvl2pPr>
            <a:lvl3pPr marL="365760" indent="0">
              <a:buNone/>
              <a:defRPr sz="1100"/>
            </a:lvl3pPr>
            <a:lvl4pPr marL="548640" indent="0">
              <a:buNone/>
              <a:defRPr sz="1050"/>
            </a:lvl4pPr>
            <a:lvl5pPr marL="731520" indent="0">
              <a:buNone/>
              <a:defRPr sz="1000"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979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, Four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90766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, Four Speaker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23850" y="320675"/>
            <a:ext cx="792163" cy="41622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492374"/>
            <a:ext cx="10167938" cy="1243019"/>
          </a:xfrm>
        </p:spPr>
        <p:txBody>
          <a:bodyPr anchor="b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Slide Title Layout 3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49" y="3827463"/>
            <a:ext cx="1016793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2EFECA-80DB-74BA-813F-3952A15A50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0688" y="4360863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990779"/>
            <a:ext cx="3725863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BBB47F0-F6D2-5FD5-1C2D-8963A9B280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8" y="4990779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18293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4932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2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727031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3, Six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989D1F9-5949-EAFF-931D-8121D6A66A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50" y="4986338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D1ACE7D-3D09-2D50-1C06-DBAD3893A9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0687" y="4986338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82202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470DCA-01D3-75CC-4B81-AF6AC1F46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274955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6DE8E-18DA-4564-080D-AD4F9F492D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8588" y="29686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 Light" panose="020B0503020201020303" pitchFamily="34" charset="0"/>
              </a:defRPr>
            </a:lvl1pPr>
          </a:lstStyle>
          <a:p>
            <a:pPr marL="0" lvl="0" algn="r" defTabSz="914400" latinLnBrk="0"/>
            <a:r>
              <a:rPr lang="en-US"/>
              <a:t>##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1C779-BAEC-654A-5E9A-684AEBA7E3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900" y="29686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/>
              <a:t>Agenda list placeholder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7F1A5-67B6-4A78-7FA7-0860E1B6F9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00302-2202-F22C-D162-871BF904F4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41B2C2-F1AC-43FD-319F-5E15E46CDB39}"/>
              </a:ext>
            </a:extLst>
          </p:cNvPr>
          <p:cNvSpPr txBox="1"/>
          <p:nvPr userDrawn="1"/>
        </p:nvSpPr>
        <p:spPr>
          <a:xfrm>
            <a:off x="1066800" y="652272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kern="120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766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74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09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Top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4703763" cy="9464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4900" y="320675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/>
              <a:t>Subheading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358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740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259C3D-581C-B8BC-32B4-EE2B22A753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14425"/>
            <a:ext cx="5772150" cy="441325"/>
          </a:xfrm>
        </p:spPr>
        <p:txBody>
          <a:bodyPr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18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09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033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Section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6922-1A18-EB35-1718-708DF44FB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0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39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Section,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B0377C-E9B5-910F-ED3D-37BEFE7948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5945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953DF5-78A1-7006-522C-1EF18B91AD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3850" y="952500"/>
            <a:ext cx="11544300" cy="51228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20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2 Columns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693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82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48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58639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93430" y="2181225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146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1107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2014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9292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82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18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9016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7014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B7038BF-5DE9-94EF-1E39-92627DD8AC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50120" y="2181225"/>
            <a:ext cx="2011680" cy="24939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0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5281613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7430" y="320675"/>
            <a:ext cx="576072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55448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84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7235825" cy="94773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40700" y="320675"/>
            <a:ext cx="372745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37160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25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3328987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49713" y="320676"/>
            <a:ext cx="7818436" cy="57546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47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3116793"/>
            <a:ext cx="5284788" cy="12461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03A889C-4BCD-59AA-132B-C3FD4F8E65F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84901" y="795338"/>
            <a:ext cx="5284788" cy="52847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66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Slide Title, Section, Body, 2/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622300"/>
            <a:ext cx="3328989" cy="155892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653D0B-638B-EB5D-F379-EF10C80DCC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429000"/>
            <a:ext cx="3328988" cy="2646363"/>
          </a:xfrm>
        </p:spPr>
        <p:txBody>
          <a:bodyPr anchor="b" anchorCtr="0"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798C8AA3-6350-A299-E288-D693A8EC893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049713" y="622300"/>
            <a:ext cx="7818436" cy="5453063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14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Section, Title 1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2739B37-658D-FBF5-94C3-66EECB73F7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320675"/>
            <a:ext cx="5766436" cy="5754687"/>
          </a:xfrm>
          <a:prstGeom prst="roundRect">
            <a:avLst>
              <a:gd name="adj" fmla="val 1714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To add your image, </a:t>
            </a:r>
            <a:br>
              <a:rPr lang="en-US"/>
            </a:br>
            <a:r>
              <a:rPr lang="en-US"/>
              <a:t>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23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3850" y="952500"/>
            <a:ext cx="11544300" cy="5122863"/>
          </a:xfrm>
          <a:prstGeom prst="roundRect">
            <a:avLst>
              <a:gd name="adj" fmla="val 1503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18872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</p:spTree>
    <p:extLst>
      <p:ext uri="{BB962C8B-B14F-4D97-AF65-F5344CB8AC3E}">
        <p14:creationId xmlns:p14="http://schemas.microsoft.com/office/powerpoint/2010/main" val="136926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1154430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99D23610-D323-6271-753B-C40A3678BD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18872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6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170B322-9DD5-07FB-D258-3DA95EF8E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28016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42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68980-BFE5-40AF-63BF-9DB031B379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B9760-CDAA-BC58-F236-F1837F40C2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5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4540250"/>
            <a:ext cx="10747375" cy="1071563"/>
          </a:xfrm>
        </p:spPr>
        <p:txBody>
          <a:bodyPr anchor="b" anchorCtr="0"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4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58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Section,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5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per 2/3 Photo, Section,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7937"/>
            <a:ext cx="12192000" cy="4675188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37160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-7937"/>
            <a:ext cx="8612188" cy="466344"/>
          </a:xfrm>
        </p:spPr>
        <p:txBody>
          <a:bodyPr anchor="b" anchorCtr="0"/>
          <a:lstStyle>
            <a:lvl1pPr marL="0" indent="0" algn="l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5003800"/>
            <a:ext cx="8612188" cy="1071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049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1132840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876424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/>
              <a:t>Quote slide 1, </a:t>
            </a: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consectetuer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nonummy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laoreet</a:t>
            </a:r>
            <a:r>
              <a:rPr lang="en-GB"/>
              <a:t> dolore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360863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90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963295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706879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/>
              <a:t>Quote slide 1, </a:t>
            </a: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consectetuer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nonummy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laoreet</a:t>
            </a:r>
            <a:r>
              <a:rPr lang="en-GB"/>
              <a:t> dolore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191318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77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44600"/>
            <a:ext cx="5373688" cy="3167380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/>
              <a:t>“Quote slide 1, </a:t>
            </a: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no </a:t>
            </a:r>
            <a:r>
              <a:rPr lang="en-GB" err="1"/>
              <a:t>nummy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laoreet</a:t>
            </a:r>
            <a:r>
              <a:rPr lang="en-GB"/>
              <a:t>”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4726305"/>
            <a:ext cx="5373688" cy="673417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38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Body Copy,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5683250" cy="9464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1555750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/>
              <a:t>Body copy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944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</p:spTree>
    <p:extLst>
      <p:ext uri="{BB962C8B-B14F-4D97-AF65-F5344CB8AC3E}">
        <p14:creationId xmlns:p14="http://schemas.microsoft.com/office/powerpoint/2010/main" val="231179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h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BD67761C-12AC-06B4-1032-66C47B765FE0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722313" y="1555750"/>
            <a:ext cx="10747375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on icon below to add a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533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B0E688F9-03DF-D354-A8AF-EF5349F39C6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323850" y="1555750"/>
            <a:ext cx="11544300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on icon below to add a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71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89EC94CF-F758-4A7C-3B39-A1EFC1EA815A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6581775" y="952500"/>
            <a:ext cx="4887913" cy="4968875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below to add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61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, Title,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0C9451-8976-3C96-3C4E-F9624BB3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2476500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3738563"/>
            <a:ext cx="7634287" cy="936625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146B2-9533-23DF-7DA9-0EBFD969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D4EDA1-89C5-8341-7EDE-FCCAAA060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1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tatement 1, Title,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BE3366F-F43E-6996-B128-0A001300FD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tIns="274320"/>
          <a:lstStyle>
            <a:lvl1pPr marL="0" indent="0" algn="ctr">
              <a:buNone/>
              <a:defRPr/>
            </a:lvl1pPr>
          </a:lstStyle>
          <a:p>
            <a:r>
              <a:rPr lang="en-US"/>
              <a:t>Image placeholder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6B6A35-8740-9D1E-A189-71BC5C74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1537465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2492374"/>
            <a:ext cx="7634287" cy="311152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03969-9100-4398-1394-9B9B34222C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FB270-12CC-4B92-85FD-B7710644F2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498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85A1-2C43-8640-F232-FC541372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231"/>
            <a:ext cx="7634288" cy="1870075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2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F17AB4-9E08-0A74-D302-44EB1D55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8"/>
          </a:xfrm>
        </p:spPr>
        <p:txBody>
          <a:bodyPr wrap="square" anchor="ctr" anchorCtr="0">
            <a:no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02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240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235825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8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5412D7-A614-E163-F131-6847698E7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44601"/>
            <a:ext cx="10888663" cy="436721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18" name="Picture 7" descr="Cisco logo">
            <a:extLst>
              <a:ext uri="{FF2B5EF4-FFF2-40B4-BE49-F238E27FC236}">
                <a16:creationId xmlns:a16="http://schemas.microsoft.com/office/drawing/2014/main" id="{56775E76-582E-6CCC-1676-4F670B0BFC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0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1774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2" descr="Cisco logo">
            <a:extLst>
              <a:ext uri="{FF2B5EF4-FFF2-40B4-BE49-F238E27FC236}">
                <a16:creationId xmlns:a16="http://schemas.microsoft.com/office/drawing/2014/main" id="{9A32CA38-C4CF-D4BC-78F1-F151F8F9799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487122" y="2978332"/>
            <a:ext cx="1217756" cy="640080"/>
            <a:chOff x="7202835" y="2919593"/>
            <a:chExt cx="1014444" cy="533215"/>
          </a:xfrm>
          <a:solidFill>
            <a:schemeClr val="bg1"/>
          </a:solidFill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0848F511-CD0C-4E21-1411-CA7D0F6E3A43}"/>
                </a:ext>
              </a:extLst>
            </p:cNvPr>
            <p:cNvSpPr/>
            <p:nvPr/>
          </p:nvSpPr>
          <p:spPr>
            <a:xfrm>
              <a:off x="7489875" y="3273956"/>
              <a:ext cx="44467" cy="175170"/>
            </a:xfrm>
            <a:custGeom>
              <a:avLst/>
              <a:gdLst>
                <a:gd name="connsiteX0" fmla="*/ 0 w 44467"/>
                <a:gd name="connsiteY0" fmla="*/ 0 h 175170"/>
                <a:gd name="connsiteX1" fmla="*/ 44467 w 44467"/>
                <a:gd name="connsiteY1" fmla="*/ 0 h 175170"/>
                <a:gd name="connsiteX2" fmla="*/ 44467 w 44467"/>
                <a:gd name="connsiteY2" fmla="*/ 175170 h 175170"/>
                <a:gd name="connsiteX3" fmla="*/ 0 w 44467"/>
                <a:gd name="connsiteY3" fmla="*/ 175170 h 175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67" h="175170">
                  <a:moveTo>
                    <a:pt x="0" y="0"/>
                  </a:moveTo>
                  <a:lnTo>
                    <a:pt x="44467" y="0"/>
                  </a:lnTo>
                  <a:lnTo>
                    <a:pt x="44467" y="175170"/>
                  </a:lnTo>
                  <a:lnTo>
                    <a:pt x="0" y="175170"/>
                  </a:lnTo>
                  <a:close/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5" name="Freeform 25">
              <a:extLst>
                <a:ext uri="{FF2B5EF4-FFF2-40B4-BE49-F238E27FC236}">
                  <a16:creationId xmlns:a16="http://schemas.microsoft.com/office/drawing/2014/main" id="{CE7BD058-D0FF-047D-F5E7-7A0A610E086D}"/>
                </a:ext>
              </a:extLst>
            </p:cNvPr>
            <p:cNvSpPr/>
            <p:nvPr/>
          </p:nvSpPr>
          <p:spPr>
            <a:xfrm>
              <a:off x="7758493" y="3270889"/>
              <a:ext cx="134399" cy="181394"/>
            </a:xfrm>
            <a:custGeom>
              <a:avLst/>
              <a:gdLst>
                <a:gd name="connsiteX0" fmla="*/ 0 w 134399"/>
                <a:gd name="connsiteY0" fmla="*/ 90652 h 181394"/>
                <a:gd name="connsiteX1" fmla="*/ 93835 w 134399"/>
                <a:gd name="connsiteY1" fmla="*/ 181394 h 181394"/>
                <a:gd name="connsiteX2" fmla="*/ 134400 w 134399"/>
                <a:gd name="connsiteY2" fmla="*/ 175170 h 181394"/>
                <a:gd name="connsiteX3" fmla="*/ 134400 w 134399"/>
                <a:gd name="connsiteY3" fmla="*/ 128176 h 181394"/>
                <a:gd name="connsiteX4" fmla="*/ 97011 w 134399"/>
                <a:gd name="connsiteY4" fmla="*/ 137196 h 181394"/>
                <a:gd name="connsiteX5" fmla="*/ 50003 w 134399"/>
                <a:gd name="connsiteY5" fmla="*/ 90472 h 181394"/>
                <a:gd name="connsiteX6" fmla="*/ 97011 w 134399"/>
                <a:gd name="connsiteY6" fmla="*/ 43747 h 181394"/>
                <a:gd name="connsiteX7" fmla="*/ 134400 w 134399"/>
                <a:gd name="connsiteY7" fmla="*/ 52768 h 181394"/>
                <a:gd name="connsiteX8" fmla="*/ 134400 w 134399"/>
                <a:gd name="connsiteY8" fmla="*/ 6314 h 181394"/>
                <a:gd name="connsiteX9" fmla="*/ 93835 w 134399"/>
                <a:gd name="connsiteY9" fmla="*/ 0 h 181394"/>
                <a:gd name="connsiteX10" fmla="*/ 0 w 134399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399" h="181394">
                  <a:moveTo>
                    <a:pt x="0" y="90652"/>
                  </a:moveTo>
                  <a:cubicBezTo>
                    <a:pt x="0" y="147118"/>
                    <a:pt x="43832" y="181394"/>
                    <a:pt x="93835" y="181394"/>
                  </a:cubicBezTo>
                  <a:cubicBezTo>
                    <a:pt x="107583" y="181261"/>
                    <a:pt x="121250" y="179165"/>
                    <a:pt x="134400" y="175170"/>
                  </a:cubicBezTo>
                  <a:lnTo>
                    <a:pt x="134400" y="128176"/>
                  </a:lnTo>
                  <a:cubicBezTo>
                    <a:pt x="122893" y="134240"/>
                    <a:pt x="110034" y="137341"/>
                    <a:pt x="97011" y="137196"/>
                  </a:cubicBezTo>
                  <a:cubicBezTo>
                    <a:pt x="71048" y="137196"/>
                    <a:pt x="50003" y="116276"/>
                    <a:pt x="50003" y="90472"/>
                  </a:cubicBezTo>
                  <a:cubicBezTo>
                    <a:pt x="50003" y="64667"/>
                    <a:pt x="71048" y="43747"/>
                    <a:pt x="97011" y="43747"/>
                  </a:cubicBezTo>
                  <a:cubicBezTo>
                    <a:pt x="110034" y="43598"/>
                    <a:pt x="122893" y="46700"/>
                    <a:pt x="134400" y="52768"/>
                  </a:cubicBezTo>
                  <a:lnTo>
                    <a:pt x="134400" y="6314"/>
                  </a:lnTo>
                  <a:cubicBezTo>
                    <a:pt x="121287" y="2146"/>
                    <a:pt x="107602" y="15"/>
                    <a:pt x="93835" y="0"/>
                  </a:cubicBezTo>
                  <a:cubicBezTo>
                    <a:pt x="39385" y="0"/>
                    <a:pt x="0" y="38335"/>
                    <a:pt x="0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6" name="Freeform 26">
              <a:extLst>
                <a:ext uri="{FF2B5EF4-FFF2-40B4-BE49-F238E27FC236}">
                  <a16:creationId xmlns:a16="http://schemas.microsoft.com/office/drawing/2014/main" id="{83623A44-0F0F-1370-66F6-0846CAF90985}"/>
                </a:ext>
              </a:extLst>
            </p:cNvPr>
            <p:cNvSpPr/>
            <p:nvPr/>
          </p:nvSpPr>
          <p:spPr>
            <a:xfrm>
              <a:off x="7294401" y="3270889"/>
              <a:ext cx="134581" cy="181394"/>
            </a:xfrm>
            <a:custGeom>
              <a:avLst/>
              <a:gdLst>
                <a:gd name="connsiteX0" fmla="*/ 0 w 134581"/>
                <a:gd name="connsiteY0" fmla="*/ 90652 h 181394"/>
                <a:gd name="connsiteX1" fmla="*/ 93926 w 134581"/>
                <a:gd name="connsiteY1" fmla="*/ 181394 h 181394"/>
                <a:gd name="connsiteX2" fmla="*/ 134581 w 134581"/>
                <a:gd name="connsiteY2" fmla="*/ 175170 h 181394"/>
                <a:gd name="connsiteX3" fmla="*/ 134581 w 134581"/>
                <a:gd name="connsiteY3" fmla="*/ 128176 h 181394"/>
                <a:gd name="connsiteX4" fmla="*/ 97193 w 134581"/>
                <a:gd name="connsiteY4" fmla="*/ 137196 h 181394"/>
                <a:gd name="connsiteX5" fmla="*/ 50184 w 134581"/>
                <a:gd name="connsiteY5" fmla="*/ 90472 h 181394"/>
                <a:gd name="connsiteX6" fmla="*/ 97193 w 134581"/>
                <a:gd name="connsiteY6" fmla="*/ 43747 h 181394"/>
                <a:gd name="connsiteX7" fmla="*/ 134581 w 134581"/>
                <a:gd name="connsiteY7" fmla="*/ 52768 h 181394"/>
                <a:gd name="connsiteX8" fmla="*/ 134581 w 134581"/>
                <a:gd name="connsiteY8" fmla="*/ 6314 h 181394"/>
                <a:gd name="connsiteX9" fmla="*/ 93926 w 134581"/>
                <a:gd name="connsiteY9" fmla="*/ 0 h 181394"/>
                <a:gd name="connsiteX10" fmla="*/ 181 w 134581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581" h="181394">
                  <a:moveTo>
                    <a:pt x="0" y="90652"/>
                  </a:moveTo>
                  <a:cubicBezTo>
                    <a:pt x="0" y="147118"/>
                    <a:pt x="43832" y="181394"/>
                    <a:pt x="93926" y="181394"/>
                  </a:cubicBezTo>
                  <a:cubicBezTo>
                    <a:pt x="107708" y="181268"/>
                    <a:pt x="121400" y="179172"/>
                    <a:pt x="134581" y="175170"/>
                  </a:cubicBezTo>
                  <a:lnTo>
                    <a:pt x="134581" y="128176"/>
                  </a:lnTo>
                  <a:cubicBezTo>
                    <a:pt x="123065" y="134222"/>
                    <a:pt x="110216" y="137322"/>
                    <a:pt x="97193" y="137196"/>
                  </a:cubicBezTo>
                  <a:cubicBezTo>
                    <a:pt x="71231" y="137196"/>
                    <a:pt x="50184" y="116276"/>
                    <a:pt x="50184" y="90472"/>
                  </a:cubicBezTo>
                  <a:cubicBezTo>
                    <a:pt x="50184" y="64667"/>
                    <a:pt x="71231" y="43747"/>
                    <a:pt x="97193" y="43747"/>
                  </a:cubicBezTo>
                  <a:cubicBezTo>
                    <a:pt x="110217" y="43613"/>
                    <a:pt x="123068" y="46714"/>
                    <a:pt x="134581" y="52768"/>
                  </a:cubicBezTo>
                  <a:lnTo>
                    <a:pt x="134581" y="6314"/>
                  </a:lnTo>
                  <a:cubicBezTo>
                    <a:pt x="121434" y="2159"/>
                    <a:pt x="107722" y="30"/>
                    <a:pt x="93926" y="0"/>
                  </a:cubicBezTo>
                  <a:cubicBezTo>
                    <a:pt x="39476" y="0"/>
                    <a:pt x="181" y="38335"/>
                    <a:pt x="181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7" name="Freeform 27">
              <a:extLst>
                <a:ext uri="{FF2B5EF4-FFF2-40B4-BE49-F238E27FC236}">
                  <a16:creationId xmlns:a16="http://schemas.microsoft.com/office/drawing/2014/main" id="{8ABAB402-379C-A6D8-AF39-B22717AC8652}"/>
                </a:ext>
              </a:extLst>
            </p:cNvPr>
            <p:cNvSpPr/>
            <p:nvPr/>
          </p:nvSpPr>
          <p:spPr>
            <a:xfrm>
              <a:off x="7943079" y="3270861"/>
              <a:ext cx="182591" cy="181947"/>
            </a:xfrm>
            <a:custGeom>
              <a:avLst/>
              <a:gdLst>
                <a:gd name="connsiteX0" fmla="*/ 89568 w 182591"/>
                <a:gd name="connsiteY0" fmla="*/ 137224 h 181947"/>
                <a:gd name="connsiteX1" fmla="*/ 42832 w 182591"/>
                <a:gd name="connsiteY1" fmla="*/ 91494 h 181947"/>
                <a:gd name="connsiteX2" fmla="*/ 88842 w 182591"/>
                <a:gd name="connsiteY2" fmla="*/ 45041 h 181947"/>
                <a:gd name="connsiteX3" fmla="*/ 135578 w 182591"/>
                <a:gd name="connsiteY3" fmla="*/ 90772 h 181947"/>
                <a:gd name="connsiteX4" fmla="*/ 135578 w 182591"/>
                <a:gd name="connsiteY4" fmla="*/ 91131 h 181947"/>
                <a:gd name="connsiteX5" fmla="*/ 91220 w 182591"/>
                <a:gd name="connsiteY5" fmla="*/ 137218 h 181947"/>
                <a:gd name="connsiteX6" fmla="*/ 89568 w 182591"/>
                <a:gd name="connsiteY6" fmla="*/ 137224 h 181947"/>
                <a:gd name="connsiteX7" fmla="*/ 89568 w 182591"/>
                <a:gd name="connsiteY7" fmla="*/ 479 h 181947"/>
                <a:gd name="connsiteX8" fmla="*/ 17 w 182591"/>
                <a:gd name="connsiteY8" fmla="*/ 92919 h 181947"/>
                <a:gd name="connsiteX9" fmla="*/ 93017 w 182591"/>
                <a:gd name="connsiteY9" fmla="*/ 181931 h 181947"/>
                <a:gd name="connsiteX10" fmla="*/ 182586 w 182591"/>
                <a:gd name="connsiteY10" fmla="*/ 91131 h 181947"/>
                <a:gd name="connsiteX11" fmla="*/ 92781 w 182591"/>
                <a:gd name="connsiteY11" fmla="*/ 5 h 181947"/>
                <a:gd name="connsiteX12" fmla="*/ 89568 w 182591"/>
                <a:gd name="connsiteY12" fmla="*/ 28 h 1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591" h="181947">
                  <a:moveTo>
                    <a:pt x="89568" y="137224"/>
                  </a:moveTo>
                  <a:cubicBezTo>
                    <a:pt x="63959" y="137423"/>
                    <a:pt x="43032" y="116949"/>
                    <a:pt x="42832" y="91494"/>
                  </a:cubicBezTo>
                  <a:cubicBezTo>
                    <a:pt x="42633" y="66038"/>
                    <a:pt x="63233" y="45241"/>
                    <a:pt x="88842" y="45041"/>
                  </a:cubicBezTo>
                  <a:cubicBezTo>
                    <a:pt x="114452" y="44842"/>
                    <a:pt x="135378" y="65317"/>
                    <a:pt x="135578" y="90772"/>
                  </a:cubicBezTo>
                  <a:cubicBezTo>
                    <a:pt x="135578" y="90891"/>
                    <a:pt x="135578" y="91011"/>
                    <a:pt x="135578" y="91131"/>
                  </a:cubicBezTo>
                  <a:cubicBezTo>
                    <a:pt x="136132" y="116033"/>
                    <a:pt x="116267" y="136667"/>
                    <a:pt x="91220" y="137218"/>
                  </a:cubicBezTo>
                  <a:cubicBezTo>
                    <a:pt x="90666" y="137229"/>
                    <a:pt x="90122" y="137232"/>
                    <a:pt x="89568" y="137224"/>
                  </a:cubicBezTo>
                  <a:moveTo>
                    <a:pt x="89568" y="479"/>
                  </a:moveTo>
                  <a:cubicBezTo>
                    <a:pt x="39157" y="1425"/>
                    <a:pt x="-936" y="42812"/>
                    <a:pt x="17" y="92919"/>
                  </a:cubicBezTo>
                  <a:cubicBezTo>
                    <a:pt x="969" y="143026"/>
                    <a:pt x="42605" y="182877"/>
                    <a:pt x="93017" y="181931"/>
                  </a:cubicBezTo>
                  <a:cubicBezTo>
                    <a:pt x="142784" y="180997"/>
                    <a:pt x="182623" y="140607"/>
                    <a:pt x="182586" y="91131"/>
                  </a:cubicBezTo>
                  <a:cubicBezTo>
                    <a:pt x="183104" y="41317"/>
                    <a:pt x="142893" y="519"/>
                    <a:pt x="92781" y="5"/>
                  </a:cubicBezTo>
                  <a:cubicBezTo>
                    <a:pt x="91710" y="-6"/>
                    <a:pt x="90639" y="1"/>
                    <a:pt x="89568" y="28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8" name="Freeform 28">
              <a:extLst>
                <a:ext uri="{FF2B5EF4-FFF2-40B4-BE49-F238E27FC236}">
                  <a16:creationId xmlns:a16="http://schemas.microsoft.com/office/drawing/2014/main" id="{A0F49F63-D861-23D0-7A32-6898EA38AA9E}"/>
                </a:ext>
              </a:extLst>
            </p:cNvPr>
            <p:cNvSpPr/>
            <p:nvPr/>
          </p:nvSpPr>
          <p:spPr>
            <a:xfrm>
              <a:off x="7593692" y="3270799"/>
              <a:ext cx="121059" cy="181484"/>
            </a:xfrm>
            <a:custGeom>
              <a:avLst/>
              <a:gdLst>
                <a:gd name="connsiteX0" fmla="*/ 79678 w 121059"/>
                <a:gd name="connsiteY0" fmla="*/ 72612 h 181484"/>
                <a:gd name="connsiteX1" fmla="*/ 67427 w 121059"/>
                <a:gd name="connsiteY1" fmla="*/ 68733 h 181484"/>
                <a:gd name="connsiteX2" fmla="*/ 47099 w 121059"/>
                <a:gd name="connsiteY2" fmla="*/ 52046 h 181484"/>
                <a:gd name="connsiteX3" fmla="*/ 74324 w 121059"/>
                <a:gd name="connsiteY3" fmla="*/ 37614 h 181484"/>
                <a:gd name="connsiteX4" fmla="*/ 109081 w 121059"/>
                <a:gd name="connsiteY4" fmla="*/ 43026 h 181484"/>
                <a:gd name="connsiteX5" fmla="*/ 109081 w 121059"/>
                <a:gd name="connsiteY5" fmla="*/ 5592 h 181484"/>
                <a:gd name="connsiteX6" fmla="*/ 65703 w 121059"/>
                <a:gd name="connsiteY6" fmla="*/ 0 h 181484"/>
                <a:gd name="connsiteX7" fmla="*/ 0 w 121059"/>
                <a:gd name="connsiteY7" fmla="*/ 54752 h 181484"/>
                <a:gd name="connsiteX8" fmla="*/ 45375 w 121059"/>
                <a:gd name="connsiteY8" fmla="*/ 105986 h 181484"/>
                <a:gd name="connsiteX9" fmla="*/ 54994 w 121059"/>
                <a:gd name="connsiteY9" fmla="*/ 109143 h 181484"/>
                <a:gd name="connsiteX10" fmla="*/ 74778 w 121059"/>
                <a:gd name="connsiteY10" fmla="*/ 126462 h 181484"/>
                <a:gd name="connsiteX11" fmla="*/ 42471 w 121059"/>
                <a:gd name="connsiteY11" fmla="*/ 142878 h 181484"/>
                <a:gd name="connsiteX12" fmla="*/ 454 w 121059"/>
                <a:gd name="connsiteY12" fmla="*/ 136384 h 181484"/>
                <a:gd name="connsiteX13" fmla="*/ 454 w 121059"/>
                <a:gd name="connsiteY13" fmla="*/ 176704 h 181484"/>
                <a:gd name="connsiteX14" fmla="*/ 48460 w 121059"/>
                <a:gd name="connsiteY14" fmla="*/ 181484 h 181484"/>
                <a:gd name="connsiteX15" fmla="*/ 121060 w 121059"/>
                <a:gd name="connsiteY15" fmla="*/ 122673 h 181484"/>
                <a:gd name="connsiteX16" fmla="*/ 79043 w 121059"/>
                <a:gd name="connsiteY16" fmla="*/ 72612 h 181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059" h="181484">
                  <a:moveTo>
                    <a:pt x="79678" y="72612"/>
                  </a:moveTo>
                  <a:lnTo>
                    <a:pt x="67427" y="68733"/>
                  </a:lnTo>
                  <a:cubicBezTo>
                    <a:pt x="60167" y="66388"/>
                    <a:pt x="47099" y="62690"/>
                    <a:pt x="47099" y="52046"/>
                  </a:cubicBezTo>
                  <a:cubicBezTo>
                    <a:pt x="47099" y="43567"/>
                    <a:pt x="56718" y="37614"/>
                    <a:pt x="74324" y="37614"/>
                  </a:cubicBezTo>
                  <a:cubicBezTo>
                    <a:pt x="86085" y="38079"/>
                    <a:pt x="97746" y="39896"/>
                    <a:pt x="109081" y="43026"/>
                  </a:cubicBezTo>
                  <a:lnTo>
                    <a:pt x="109081" y="5592"/>
                  </a:lnTo>
                  <a:cubicBezTo>
                    <a:pt x="94888" y="2071"/>
                    <a:pt x="80331" y="194"/>
                    <a:pt x="65703" y="0"/>
                  </a:cubicBezTo>
                  <a:cubicBezTo>
                    <a:pt x="24684" y="0"/>
                    <a:pt x="0" y="22009"/>
                    <a:pt x="0" y="54752"/>
                  </a:cubicBezTo>
                  <a:cubicBezTo>
                    <a:pt x="0" y="83797"/>
                    <a:pt x="20691" y="98229"/>
                    <a:pt x="45375" y="105986"/>
                  </a:cubicBezTo>
                  <a:cubicBezTo>
                    <a:pt x="48188" y="106888"/>
                    <a:pt x="52272" y="108151"/>
                    <a:pt x="54994" y="109143"/>
                  </a:cubicBezTo>
                  <a:cubicBezTo>
                    <a:pt x="65975" y="112571"/>
                    <a:pt x="74778" y="117622"/>
                    <a:pt x="74778" y="126462"/>
                  </a:cubicBezTo>
                  <a:cubicBezTo>
                    <a:pt x="74778" y="135301"/>
                    <a:pt x="64614" y="142878"/>
                    <a:pt x="42471" y="142878"/>
                  </a:cubicBezTo>
                  <a:cubicBezTo>
                    <a:pt x="28250" y="142457"/>
                    <a:pt x="14130" y="140275"/>
                    <a:pt x="454" y="136384"/>
                  </a:cubicBezTo>
                  <a:lnTo>
                    <a:pt x="454" y="176704"/>
                  </a:lnTo>
                  <a:cubicBezTo>
                    <a:pt x="16281" y="179724"/>
                    <a:pt x="32343" y="181324"/>
                    <a:pt x="48460" y="181484"/>
                  </a:cubicBezTo>
                  <a:cubicBezTo>
                    <a:pt x="82491" y="181484"/>
                    <a:pt x="121060" y="166691"/>
                    <a:pt x="121060" y="122673"/>
                  </a:cubicBezTo>
                  <a:cubicBezTo>
                    <a:pt x="121060" y="101296"/>
                    <a:pt x="107901" y="81632"/>
                    <a:pt x="79043" y="7261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9" name="Freeform 29">
              <a:extLst>
                <a:ext uri="{FF2B5EF4-FFF2-40B4-BE49-F238E27FC236}">
                  <a16:creationId xmlns:a16="http://schemas.microsoft.com/office/drawing/2014/main" id="{62CA1BBC-594E-0B3B-ACB5-5180E647EB68}"/>
                </a:ext>
              </a:extLst>
            </p:cNvPr>
            <p:cNvSpPr/>
            <p:nvPr/>
          </p:nvSpPr>
          <p:spPr>
            <a:xfrm>
              <a:off x="7202835" y="3063878"/>
              <a:ext cx="44194" cy="88432"/>
            </a:xfrm>
            <a:custGeom>
              <a:avLst/>
              <a:gdLst>
                <a:gd name="connsiteX0" fmla="*/ 22143 w 44194"/>
                <a:gd name="connsiteY0" fmla="*/ 0 h 88432"/>
                <a:gd name="connsiteX1" fmla="*/ 0 w 44194"/>
                <a:gd name="connsiteY1" fmla="*/ 21919 h 88432"/>
                <a:gd name="connsiteX2" fmla="*/ 0 w 44194"/>
                <a:gd name="connsiteY2" fmla="*/ 67831 h 88432"/>
                <a:gd name="connsiteX3" fmla="*/ 23514 w 44194"/>
                <a:gd name="connsiteY3" fmla="*/ 88387 h 88432"/>
                <a:gd name="connsiteX4" fmla="*/ 44195 w 44194"/>
                <a:gd name="connsiteY4" fmla="*/ 67831 h 88432"/>
                <a:gd name="connsiteX5" fmla="*/ 44195 w 44194"/>
                <a:gd name="connsiteY5" fmla="*/ 21919 h 88432"/>
                <a:gd name="connsiteX6" fmla="*/ 22143 w 44194"/>
                <a:gd name="connsiteY6" fmla="*/ 0 h 8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94" h="88432">
                  <a:moveTo>
                    <a:pt x="22143" y="0"/>
                  </a:moveTo>
                  <a:cubicBezTo>
                    <a:pt x="9949" y="0"/>
                    <a:pt x="50" y="9799"/>
                    <a:pt x="0" y="21919"/>
                  </a:cubicBezTo>
                  <a:lnTo>
                    <a:pt x="0" y="67831"/>
                  </a:lnTo>
                  <a:cubicBezTo>
                    <a:pt x="782" y="79961"/>
                    <a:pt x="11310" y="89165"/>
                    <a:pt x="23514" y="88387"/>
                  </a:cubicBezTo>
                  <a:cubicBezTo>
                    <a:pt x="34627" y="87679"/>
                    <a:pt x="43483" y="78877"/>
                    <a:pt x="44195" y="67831"/>
                  </a:cubicBezTo>
                  <a:lnTo>
                    <a:pt x="44195" y="21919"/>
                  </a:lnTo>
                  <a:cubicBezTo>
                    <a:pt x="44195" y="9813"/>
                    <a:pt x="34321" y="0"/>
                    <a:pt x="22143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51B57147-07A3-179D-3B44-669E31BA0779}"/>
                </a:ext>
              </a:extLst>
            </p:cNvPr>
            <p:cNvSpPr/>
            <p:nvPr/>
          </p:nvSpPr>
          <p:spPr>
            <a:xfrm>
              <a:off x="7324348" y="3003533"/>
              <a:ext cx="44104" cy="150094"/>
            </a:xfrm>
            <a:custGeom>
              <a:avLst/>
              <a:gdLst>
                <a:gd name="connsiteX0" fmla="*/ 22052 w 44104"/>
                <a:gd name="connsiteY0" fmla="*/ 150094 h 150094"/>
                <a:gd name="connsiteX1" fmla="*/ 44104 w 44104"/>
                <a:gd name="connsiteY1" fmla="*/ 128176 h 150094"/>
                <a:gd name="connsiteX2" fmla="*/ 44104 w 44104"/>
                <a:gd name="connsiteY2" fmla="*/ 21919 h 150094"/>
                <a:gd name="connsiteX3" fmla="*/ 22052 w 44104"/>
                <a:gd name="connsiteY3" fmla="*/ 0 h 150094"/>
                <a:gd name="connsiteX4" fmla="*/ 0 w 44104"/>
                <a:gd name="connsiteY4" fmla="*/ 21919 h 150094"/>
                <a:gd name="connsiteX5" fmla="*/ 0 w 44104"/>
                <a:gd name="connsiteY5" fmla="*/ 128176 h 150094"/>
                <a:gd name="connsiteX6" fmla="*/ 22052 w 44104"/>
                <a:gd name="connsiteY6" fmla="*/ 150094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22052" y="150094"/>
                  </a:moveTo>
                  <a:cubicBezTo>
                    <a:pt x="34231" y="150094"/>
                    <a:pt x="44104" y="140281"/>
                    <a:pt x="44104" y="128176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3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3" y="150094"/>
                    <a:pt x="22052" y="150094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1" name="Freeform 31">
              <a:extLst>
                <a:ext uri="{FF2B5EF4-FFF2-40B4-BE49-F238E27FC236}">
                  <a16:creationId xmlns:a16="http://schemas.microsoft.com/office/drawing/2014/main" id="{D2F4977B-6C3A-1749-28D3-74067758D800}"/>
                </a:ext>
              </a:extLst>
            </p:cNvPr>
            <p:cNvSpPr/>
            <p:nvPr/>
          </p:nvSpPr>
          <p:spPr>
            <a:xfrm>
              <a:off x="7445589" y="2921000"/>
              <a:ext cx="44104" cy="276375"/>
            </a:xfrm>
            <a:custGeom>
              <a:avLst/>
              <a:gdLst>
                <a:gd name="connsiteX0" fmla="*/ 22052 w 44104"/>
                <a:gd name="connsiteY0" fmla="*/ 0 h 276375"/>
                <a:gd name="connsiteX1" fmla="*/ 0 w 44104"/>
                <a:gd name="connsiteY1" fmla="*/ 21919 h 276375"/>
                <a:gd name="connsiteX2" fmla="*/ 0 w 44104"/>
                <a:gd name="connsiteY2" fmla="*/ 254457 h 276375"/>
                <a:gd name="connsiteX3" fmla="*/ 22052 w 44104"/>
                <a:gd name="connsiteY3" fmla="*/ 276376 h 276375"/>
                <a:gd name="connsiteX4" fmla="*/ 44104 w 44104"/>
                <a:gd name="connsiteY4" fmla="*/ 254457 h 276375"/>
                <a:gd name="connsiteX5" fmla="*/ 44104 w 44104"/>
                <a:gd name="connsiteY5" fmla="*/ 21919 h 276375"/>
                <a:gd name="connsiteX6" fmla="*/ 22052 w 44104"/>
                <a:gd name="connsiteY6" fmla="*/ 0 h 2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276375">
                  <a:moveTo>
                    <a:pt x="22052" y="0"/>
                  </a:moveTo>
                  <a:cubicBezTo>
                    <a:pt x="9873" y="0"/>
                    <a:pt x="0" y="9813"/>
                    <a:pt x="0" y="21919"/>
                  </a:cubicBezTo>
                  <a:lnTo>
                    <a:pt x="0" y="254457"/>
                  </a:lnTo>
                  <a:cubicBezTo>
                    <a:pt x="0" y="266563"/>
                    <a:pt x="9873" y="276376"/>
                    <a:pt x="22052" y="276376"/>
                  </a:cubicBezTo>
                  <a:cubicBezTo>
                    <a:pt x="34231" y="276376"/>
                    <a:pt x="44104" y="266563"/>
                    <a:pt x="44104" y="254457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7539BE40-6861-0AFB-E72A-25B2630122C7}"/>
                </a:ext>
              </a:extLst>
            </p:cNvPr>
            <p:cNvSpPr/>
            <p:nvPr/>
          </p:nvSpPr>
          <p:spPr>
            <a:xfrm>
              <a:off x="7566921" y="3003533"/>
              <a:ext cx="44104" cy="150094"/>
            </a:xfrm>
            <a:custGeom>
              <a:avLst/>
              <a:gdLst>
                <a:gd name="connsiteX0" fmla="*/ 44104 w 44104"/>
                <a:gd name="connsiteY0" fmla="*/ 128176 h 150094"/>
                <a:gd name="connsiteX1" fmla="*/ 44104 w 44104"/>
                <a:gd name="connsiteY1" fmla="*/ 21919 h 150094"/>
                <a:gd name="connsiteX2" fmla="*/ 22052 w 44104"/>
                <a:gd name="connsiteY2" fmla="*/ 0 h 150094"/>
                <a:gd name="connsiteX3" fmla="*/ 0 w 44104"/>
                <a:gd name="connsiteY3" fmla="*/ 21919 h 150094"/>
                <a:gd name="connsiteX4" fmla="*/ 0 w 44104"/>
                <a:gd name="connsiteY4" fmla="*/ 128176 h 150094"/>
                <a:gd name="connsiteX5" fmla="*/ 22052 w 44104"/>
                <a:gd name="connsiteY5" fmla="*/ 150094 h 150094"/>
                <a:gd name="connsiteX6" fmla="*/ 44104 w 44104"/>
                <a:gd name="connsiteY6" fmla="*/ 128176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44104" y="128176"/>
                  </a:move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4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4" y="150094"/>
                    <a:pt x="22052" y="150094"/>
                  </a:cubicBezTo>
                  <a:cubicBezTo>
                    <a:pt x="34231" y="150094"/>
                    <a:pt x="44104" y="140281"/>
                    <a:pt x="44104" y="128176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3" name="Freeform 33">
              <a:extLst>
                <a:ext uri="{FF2B5EF4-FFF2-40B4-BE49-F238E27FC236}">
                  <a16:creationId xmlns:a16="http://schemas.microsoft.com/office/drawing/2014/main" id="{8726BE87-6F3D-1887-CD70-E89DF7FE7BFC}"/>
                </a:ext>
              </a:extLst>
            </p:cNvPr>
            <p:cNvSpPr/>
            <p:nvPr/>
          </p:nvSpPr>
          <p:spPr>
            <a:xfrm>
              <a:off x="7687800" y="3063876"/>
              <a:ext cx="44104" cy="89751"/>
            </a:xfrm>
            <a:custGeom>
              <a:avLst/>
              <a:gdLst>
                <a:gd name="connsiteX0" fmla="*/ 22415 w 44104"/>
                <a:gd name="connsiteY0" fmla="*/ 2 h 89751"/>
                <a:gd name="connsiteX1" fmla="*/ 0 w 44104"/>
                <a:gd name="connsiteY1" fmla="*/ 21738 h 89751"/>
                <a:gd name="connsiteX2" fmla="*/ 0 w 44104"/>
                <a:gd name="connsiteY2" fmla="*/ 21921 h 89751"/>
                <a:gd name="connsiteX3" fmla="*/ 0 w 44104"/>
                <a:gd name="connsiteY3" fmla="*/ 67833 h 89751"/>
                <a:gd name="connsiteX4" fmla="*/ 22052 w 44104"/>
                <a:gd name="connsiteY4" fmla="*/ 89752 h 89751"/>
                <a:gd name="connsiteX5" fmla="*/ 44104 w 44104"/>
                <a:gd name="connsiteY5" fmla="*/ 67833 h 89751"/>
                <a:gd name="connsiteX6" fmla="*/ 44104 w 44104"/>
                <a:gd name="connsiteY6" fmla="*/ 21921 h 89751"/>
                <a:gd name="connsiteX7" fmla="*/ 22143 w 44104"/>
                <a:gd name="connsiteY7" fmla="*/ 2 h 8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04" h="89751">
                  <a:moveTo>
                    <a:pt x="22415" y="2"/>
                  </a:moveTo>
                  <a:cubicBezTo>
                    <a:pt x="10191" y="-148"/>
                    <a:pt x="154" y="9584"/>
                    <a:pt x="0" y="21738"/>
                  </a:cubicBezTo>
                  <a:cubicBezTo>
                    <a:pt x="0" y="21799"/>
                    <a:pt x="0" y="21860"/>
                    <a:pt x="0" y="21921"/>
                  </a:cubicBezTo>
                  <a:lnTo>
                    <a:pt x="0" y="67833"/>
                  </a:lnTo>
                  <a:cubicBezTo>
                    <a:pt x="0" y="79939"/>
                    <a:pt x="9874" y="89752"/>
                    <a:pt x="22052" y="89752"/>
                  </a:cubicBezTo>
                  <a:cubicBezTo>
                    <a:pt x="34231" y="89752"/>
                    <a:pt x="44104" y="79939"/>
                    <a:pt x="44104" y="67833"/>
                  </a:cubicBezTo>
                  <a:lnTo>
                    <a:pt x="44104" y="21921"/>
                  </a:lnTo>
                  <a:cubicBezTo>
                    <a:pt x="44104" y="9850"/>
                    <a:pt x="34285" y="51"/>
                    <a:pt x="22143" y="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4" name="Freeform 34">
              <a:extLst>
                <a:ext uri="{FF2B5EF4-FFF2-40B4-BE49-F238E27FC236}">
                  <a16:creationId xmlns:a16="http://schemas.microsoft.com/office/drawing/2014/main" id="{EB3564BA-B2F9-645B-AD4D-30EC3199A221}"/>
                </a:ext>
              </a:extLst>
            </p:cNvPr>
            <p:cNvSpPr/>
            <p:nvPr/>
          </p:nvSpPr>
          <p:spPr>
            <a:xfrm>
              <a:off x="7809447" y="3002127"/>
              <a:ext cx="44107" cy="151500"/>
            </a:xfrm>
            <a:custGeom>
              <a:avLst/>
              <a:gdLst>
                <a:gd name="connsiteX0" fmla="*/ 22009 w 44107"/>
                <a:gd name="connsiteY0" fmla="*/ 151500 h 151500"/>
                <a:gd name="connsiteX1" fmla="*/ 44061 w 44107"/>
                <a:gd name="connsiteY1" fmla="*/ 129582 h 151500"/>
                <a:gd name="connsiteX2" fmla="*/ 44061 w 44107"/>
                <a:gd name="connsiteY2" fmla="*/ 23325 h 151500"/>
                <a:gd name="connsiteX3" fmla="*/ 23470 w 44107"/>
                <a:gd name="connsiteY3" fmla="*/ 46 h 151500"/>
                <a:gd name="connsiteX4" fmla="*/ 48 w 44107"/>
                <a:gd name="connsiteY4" fmla="*/ 20514 h 151500"/>
                <a:gd name="connsiteX5" fmla="*/ 48 w 44107"/>
                <a:gd name="connsiteY5" fmla="*/ 23325 h 151500"/>
                <a:gd name="connsiteX6" fmla="*/ 48 w 44107"/>
                <a:gd name="connsiteY6" fmla="*/ 129582 h 151500"/>
                <a:gd name="connsiteX7" fmla="*/ 21918 w 44107"/>
                <a:gd name="connsiteY7" fmla="*/ 151500 h 151500"/>
                <a:gd name="connsiteX8" fmla="*/ 22009 w 44107"/>
                <a:gd name="connsiteY8" fmla="*/ 151500 h 15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151500">
                  <a:moveTo>
                    <a:pt x="22009" y="151500"/>
                  </a:moveTo>
                  <a:cubicBezTo>
                    <a:pt x="34188" y="151500"/>
                    <a:pt x="44061" y="141688"/>
                    <a:pt x="44061" y="129582"/>
                  </a:cubicBezTo>
                  <a:lnTo>
                    <a:pt x="44061" y="23325"/>
                  </a:lnTo>
                  <a:cubicBezTo>
                    <a:pt x="44841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1"/>
                    <a:pt x="-16" y="22389"/>
                    <a:pt x="48" y="23325"/>
                  </a:cubicBezTo>
                  <a:lnTo>
                    <a:pt x="48" y="129582"/>
                  </a:lnTo>
                  <a:cubicBezTo>
                    <a:pt x="-7" y="141637"/>
                    <a:pt x="9785" y="151451"/>
                    <a:pt x="21918" y="151500"/>
                  </a:cubicBezTo>
                  <a:cubicBezTo>
                    <a:pt x="21945" y="151500"/>
                    <a:pt x="21982" y="151500"/>
                    <a:pt x="22009" y="15150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5" name="Freeform 35">
              <a:extLst>
                <a:ext uri="{FF2B5EF4-FFF2-40B4-BE49-F238E27FC236}">
                  <a16:creationId xmlns:a16="http://schemas.microsoft.com/office/drawing/2014/main" id="{0B4EEF7D-1D1F-7611-2AD6-3168E2EE165C}"/>
                </a:ext>
              </a:extLst>
            </p:cNvPr>
            <p:cNvSpPr/>
            <p:nvPr/>
          </p:nvSpPr>
          <p:spPr>
            <a:xfrm>
              <a:off x="7930779" y="2919593"/>
              <a:ext cx="44108" cy="279187"/>
            </a:xfrm>
            <a:custGeom>
              <a:avLst/>
              <a:gdLst>
                <a:gd name="connsiteX0" fmla="*/ 44061 w 44108"/>
                <a:gd name="connsiteY0" fmla="*/ 255863 h 279187"/>
                <a:gd name="connsiteX1" fmla="*/ 44061 w 44108"/>
                <a:gd name="connsiteY1" fmla="*/ 23325 h 279187"/>
                <a:gd name="connsiteX2" fmla="*/ 23470 w 44108"/>
                <a:gd name="connsiteY2" fmla="*/ 46 h 279187"/>
                <a:gd name="connsiteX3" fmla="*/ 48 w 44108"/>
                <a:gd name="connsiteY3" fmla="*/ 20514 h 279187"/>
                <a:gd name="connsiteX4" fmla="*/ 48 w 44108"/>
                <a:gd name="connsiteY4" fmla="*/ 23325 h 279187"/>
                <a:gd name="connsiteX5" fmla="*/ 48 w 44108"/>
                <a:gd name="connsiteY5" fmla="*/ 255863 h 279187"/>
                <a:gd name="connsiteX6" fmla="*/ 20639 w 44108"/>
                <a:gd name="connsiteY6" fmla="*/ 279142 h 279187"/>
                <a:gd name="connsiteX7" fmla="*/ 44061 w 44108"/>
                <a:gd name="connsiteY7" fmla="*/ 258674 h 279187"/>
                <a:gd name="connsiteX8" fmla="*/ 44061 w 44108"/>
                <a:gd name="connsiteY8" fmla="*/ 255863 h 279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8" h="279187">
                  <a:moveTo>
                    <a:pt x="44061" y="255863"/>
                  </a:moveTo>
                  <a:lnTo>
                    <a:pt x="44061" y="23325"/>
                  </a:lnTo>
                  <a:cubicBezTo>
                    <a:pt x="44842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0"/>
                    <a:pt x="-16" y="22389"/>
                    <a:pt x="48" y="23325"/>
                  </a:cubicBezTo>
                  <a:lnTo>
                    <a:pt x="48" y="255863"/>
                  </a:lnTo>
                  <a:cubicBezTo>
                    <a:pt x="-733" y="267944"/>
                    <a:pt x="8487" y="278366"/>
                    <a:pt x="20639" y="279142"/>
                  </a:cubicBezTo>
                  <a:cubicBezTo>
                    <a:pt x="32790" y="279919"/>
                    <a:pt x="43281" y="270754"/>
                    <a:pt x="44061" y="258674"/>
                  </a:cubicBezTo>
                  <a:cubicBezTo>
                    <a:pt x="44125" y="257737"/>
                    <a:pt x="44125" y="256799"/>
                    <a:pt x="44061" y="255863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9A55B643-50C9-ECA1-F047-7AF4A01DADB7}"/>
                </a:ext>
              </a:extLst>
            </p:cNvPr>
            <p:cNvSpPr/>
            <p:nvPr/>
          </p:nvSpPr>
          <p:spPr>
            <a:xfrm>
              <a:off x="8051886" y="3003443"/>
              <a:ext cx="44285" cy="150187"/>
            </a:xfrm>
            <a:custGeom>
              <a:avLst/>
              <a:gdLst>
                <a:gd name="connsiteX0" fmla="*/ 21961 w 44285"/>
                <a:gd name="connsiteY0" fmla="*/ 150185 h 150187"/>
                <a:gd name="connsiteX1" fmla="*/ 44286 w 44285"/>
                <a:gd name="connsiteY1" fmla="*/ 128720 h 150187"/>
                <a:gd name="connsiteX2" fmla="*/ 44286 w 44285"/>
                <a:gd name="connsiteY2" fmla="*/ 128266 h 150187"/>
                <a:gd name="connsiteX3" fmla="*/ 44286 w 44285"/>
                <a:gd name="connsiteY3" fmla="*/ 22009 h 150187"/>
                <a:gd name="connsiteX4" fmla="*/ 22143 w 44285"/>
                <a:gd name="connsiteY4" fmla="*/ 0 h 150187"/>
                <a:gd name="connsiteX5" fmla="*/ 0 w 44285"/>
                <a:gd name="connsiteY5" fmla="*/ 22009 h 150187"/>
                <a:gd name="connsiteX6" fmla="*/ 0 w 44285"/>
                <a:gd name="connsiteY6" fmla="*/ 128266 h 150187"/>
                <a:gd name="connsiteX7" fmla="*/ 22052 w 44285"/>
                <a:gd name="connsiteY7" fmla="*/ 150185 h 15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5" h="150187">
                  <a:moveTo>
                    <a:pt x="21961" y="150185"/>
                  </a:moveTo>
                  <a:cubicBezTo>
                    <a:pt x="34086" y="150384"/>
                    <a:pt x="44086" y="140774"/>
                    <a:pt x="44286" y="128720"/>
                  </a:cubicBezTo>
                  <a:cubicBezTo>
                    <a:pt x="44286" y="128569"/>
                    <a:pt x="44286" y="128417"/>
                    <a:pt x="44286" y="128266"/>
                  </a:cubicBezTo>
                  <a:lnTo>
                    <a:pt x="44286" y="22009"/>
                  </a:lnTo>
                  <a:cubicBezTo>
                    <a:pt x="44286" y="9854"/>
                    <a:pt x="34376" y="0"/>
                    <a:pt x="22143" y="0"/>
                  </a:cubicBezTo>
                  <a:cubicBezTo>
                    <a:pt x="9910" y="0"/>
                    <a:pt x="0" y="9854"/>
                    <a:pt x="0" y="22009"/>
                  </a:cubicBezTo>
                  <a:lnTo>
                    <a:pt x="0" y="128266"/>
                  </a:lnTo>
                  <a:cubicBezTo>
                    <a:pt x="0" y="140372"/>
                    <a:pt x="9874" y="150185"/>
                    <a:pt x="22052" y="150185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46A6ACD1-E596-9055-243C-B9CF5CFB813D}"/>
                </a:ext>
              </a:extLst>
            </p:cNvPr>
            <p:cNvSpPr/>
            <p:nvPr/>
          </p:nvSpPr>
          <p:spPr>
            <a:xfrm>
              <a:off x="8173172" y="3063878"/>
              <a:ext cx="44107" cy="91156"/>
            </a:xfrm>
            <a:custGeom>
              <a:avLst/>
              <a:gdLst>
                <a:gd name="connsiteX0" fmla="*/ 22007 w 44107"/>
                <a:gd name="connsiteY0" fmla="*/ 0 h 91156"/>
                <a:gd name="connsiteX1" fmla="*/ 46 w 44107"/>
                <a:gd name="connsiteY1" fmla="*/ 21829 h 91156"/>
                <a:gd name="connsiteX2" fmla="*/ 46 w 44107"/>
                <a:gd name="connsiteY2" fmla="*/ 21919 h 91156"/>
                <a:gd name="connsiteX3" fmla="*/ 46 w 44107"/>
                <a:gd name="connsiteY3" fmla="*/ 67831 h 91156"/>
                <a:gd name="connsiteX4" fmla="*/ 20637 w 44107"/>
                <a:gd name="connsiteY4" fmla="*/ 91110 h 91156"/>
                <a:gd name="connsiteX5" fmla="*/ 44059 w 44107"/>
                <a:gd name="connsiteY5" fmla="*/ 70642 h 91156"/>
                <a:gd name="connsiteX6" fmla="*/ 44059 w 44107"/>
                <a:gd name="connsiteY6" fmla="*/ 67831 h 91156"/>
                <a:gd name="connsiteX7" fmla="*/ 44059 w 44107"/>
                <a:gd name="connsiteY7" fmla="*/ 21919 h 91156"/>
                <a:gd name="connsiteX8" fmla="*/ 22007 w 44107"/>
                <a:gd name="connsiteY8" fmla="*/ 0 h 9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91156">
                  <a:moveTo>
                    <a:pt x="22007" y="0"/>
                  </a:moveTo>
                  <a:cubicBezTo>
                    <a:pt x="9874" y="0"/>
                    <a:pt x="46" y="9773"/>
                    <a:pt x="46" y="21829"/>
                  </a:cubicBezTo>
                  <a:cubicBezTo>
                    <a:pt x="46" y="21858"/>
                    <a:pt x="46" y="21889"/>
                    <a:pt x="46" y="21919"/>
                  </a:cubicBezTo>
                  <a:lnTo>
                    <a:pt x="46" y="67831"/>
                  </a:lnTo>
                  <a:cubicBezTo>
                    <a:pt x="-734" y="79912"/>
                    <a:pt x="8486" y="90334"/>
                    <a:pt x="20637" y="91110"/>
                  </a:cubicBezTo>
                  <a:cubicBezTo>
                    <a:pt x="32789" y="91887"/>
                    <a:pt x="43279" y="82722"/>
                    <a:pt x="44059" y="70642"/>
                  </a:cubicBezTo>
                  <a:cubicBezTo>
                    <a:pt x="44123" y="69705"/>
                    <a:pt x="44123" y="68767"/>
                    <a:pt x="44059" y="67831"/>
                  </a:cubicBezTo>
                  <a:lnTo>
                    <a:pt x="44059" y="21919"/>
                  </a:lnTo>
                  <a:cubicBezTo>
                    <a:pt x="44059" y="9813"/>
                    <a:pt x="34186" y="0"/>
                    <a:pt x="22007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3859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1F2830-F0A3-2EAC-C709-5C928A8C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5BE63C-8C0C-FC75-3DF2-F8F96A3C8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754" y="1244599"/>
            <a:ext cx="11544396" cy="483532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9B4362-70A2-3ADC-C4AA-ADA6E4E09C94}"/>
              </a:ext>
            </a:extLst>
          </p:cNvPr>
          <p:cNvSpPr>
            <a:spLocks/>
          </p:cNvSpPr>
          <p:nvPr userDrawn="1"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rPr>
              <a:t>© 2026 Cisco and/or its affiliates. All rights reserved.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2B348-7CFA-9BD7-7FBA-A3E160A67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</a:lstStyle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ECAE8E-F596-3416-3914-B7C065191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</a:lstStyle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7" descr="Cisco Logo">
            <a:extLst>
              <a:ext uri="{FF2B5EF4-FFF2-40B4-BE49-F238E27FC236}">
                <a16:creationId xmlns:a16="http://schemas.microsoft.com/office/drawing/2014/main" id="{E912C7E4-465D-A60D-49E8-6866FAAE655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AE3397-B7E0-F9B7-D1AC-C859F3CFC5A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5550" y="6672580"/>
            <a:ext cx="765175" cy="10772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810597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  <p:sldLayoutId id="2147483831" r:id="rId19"/>
    <p:sldLayoutId id="2147483867" r:id="rId20"/>
    <p:sldLayoutId id="2147483868" r:id="rId21"/>
    <p:sldLayoutId id="2147483832" r:id="rId22"/>
    <p:sldLayoutId id="2147483833" r:id="rId23"/>
    <p:sldLayoutId id="2147483834" r:id="rId24"/>
    <p:sldLayoutId id="2147483835" r:id="rId25"/>
    <p:sldLayoutId id="2147483836" r:id="rId26"/>
    <p:sldLayoutId id="2147483837" r:id="rId27"/>
    <p:sldLayoutId id="2147483838" r:id="rId28"/>
    <p:sldLayoutId id="2147483839" r:id="rId29"/>
    <p:sldLayoutId id="2147483840" r:id="rId30"/>
    <p:sldLayoutId id="2147483841" r:id="rId31"/>
    <p:sldLayoutId id="2147483842" r:id="rId32"/>
    <p:sldLayoutId id="2147483843" r:id="rId33"/>
    <p:sldLayoutId id="2147483844" r:id="rId34"/>
    <p:sldLayoutId id="2147483845" r:id="rId35"/>
    <p:sldLayoutId id="2147483846" r:id="rId36"/>
    <p:sldLayoutId id="2147483847" r:id="rId37"/>
    <p:sldLayoutId id="2147483848" r:id="rId38"/>
    <p:sldLayoutId id="2147483849" r:id="rId39"/>
    <p:sldLayoutId id="2147483850" r:id="rId40"/>
    <p:sldLayoutId id="2147483851" r:id="rId41"/>
    <p:sldLayoutId id="2147483852" r:id="rId42"/>
    <p:sldLayoutId id="2147483853" r:id="rId43"/>
    <p:sldLayoutId id="2147483854" r:id="rId44"/>
    <p:sldLayoutId id="2147483855" r:id="rId45"/>
    <p:sldLayoutId id="2147483856" r:id="rId46"/>
    <p:sldLayoutId id="2147483857" r:id="rId47"/>
    <p:sldLayoutId id="2147483858" r:id="rId48"/>
    <p:sldLayoutId id="2147483859" r:id="rId49"/>
    <p:sldLayoutId id="2147483860" r:id="rId50"/>
    <p:sldLayoutId id="2147483861" r:id="rId51"/>
    <p:sldLayoutId id="2147483862" r:id="rId52"/>
    <p:sldLayoutId id="2147483863" r:id="rId53"/>
    <p:sldLayoutId id="2147483864" r:id="rId54"/>
    <p:sldLayoutId id="2147483865" r:id="rId55"/>
    <p:sldLayoutId id="2147483866" r:id="rId5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2276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Tx/>
        <a:buSzPct val="70000"/>
        <a:buFont typeface="Arial" panose="020B0604020202020204" pitchFamily="34" charset="0"/>
        <a:buNone/>
        <a:defRPr lang="en-US" sz="3200" b="0" i="0" u="none" kern="1200" dirty="0">
          <a:solidFill>
            <a:schemeClr val="bg1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8288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1pPr>
      <a:lvl2pPr marL="36576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8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2pPr>
      <a:lvl3pPr marL="54864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3pPr>
      <a:lvl4pPr marL="73152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4pPr>
      <a:lvl5pPr marL="91440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04" userDrawn="1">
          <p15:clr>
            <a:srgbClr val="F26B43"/>
          </p15:clr>
        </p15:guide>
        <p15:guide id="3" pos="7476" userDrawn="1">
          <p15:clr>
            <a:srgbClr val="F26B43"/>
          </p15:clr>
        </p15:guide>
        <p15:guide id="6" pos="3840" userDrawn="1">
          <p15:clr>
            <a:srgbClr val="F26B43"/>
          </p15:clr>
        </p15:guide>
        <p15:guide id="9" orient="horz" pos="3827" userDrawn="1">
          <p15:clr>
            <a:srgbClr val="9FCC3B"/>
          </p15:clr>
        </p15:guide>
        <p15:guide id="10" orient="horz" pos="202" userDrawn="1">
          <p15:clr>
            <a:srgbClr val="F26B43"/>
          </p15:clr>
        </p15:guide>
        <p15:guide id="11" orient="horz" pos="2160">
          <p15:clr>
            <a:srgbClr val="F26B43"/>
          </p15:clr>
        </p15:guide>
        <p15:guide id="12" orient="horz" pos="392" userDrawn="1">
          <p15:clr>
            <a:srgbClr val="A4A3A4"/>
          </p15:clr>
        </p15:guide>
        <p15:guide id="13" orient="horz" pos="2552" userDrawn="1">
          <p15:clr>
            <a:srgbClr val="A4A3A4"/>
          </p15:clr>
        </p15:guide>
        <p15:guide id="14" orient="horz" pos="600" userDrawn="1">
          <p15:clr>
            <a:srgbClr val="A4A3A4"/>
          </p15:clr>
        </p15:guide>
        <p15:guide id="15" orient="horz" pos="1766" userDrawn="1">
          <p15:clr>
            <a:srgbClr val="A4A3A4"/>
          </p15:clr>
        </p15:guide>
        <p15:guide id="16" orient="horz" pos="2355" userDrawn="1">
          <p15:clr>
            <a:srgbClr val="A4A3A4"/>
          </p15:clr>
        </p15:guide>
        <p15:guide id="18" orient="horz" pos="4118" userDrawn="1">
          <p15:clr>
            <a:srgbClr val="F26B43"/>
          </p15:clr>
        </p15:guide>
        <p15:guide id="19" orient="horz" pos="1178" userDrawn="1">
          <p15:clr>
            <a:srgbClr val="A4A3A4"/>
          </p15:clr>
        </p15:guide>
        <p15:guide id="20" orient="horz" pos="1374" userDrawn="1">
          <p15:clr>
            <a:srgbClr val="A4A3A4"/>
          </p15:clr>
        </p15:guide>
        <p15:guide id="21" orient="horz" pos="1570" userDrawn="1">
          <p15:clr>
            <a:srgbClr val="A4A3A4"/>
          </p15:clr>
        </p15:guide>
        <p15:guide id="22" pos="703" userDrawn="1">
          <p15:clr>
            <a:srgbClr val="A4A3A4"/>
          </p15:clr>
        </p15:guide>
        <p15:guide id="23" pos="820" userDrawn="1">
          <p15:clr>
            <a:srgbClr val="A4A3A4"/>
          </p15:clr>
        </p15:guide>
        <p15:guide id="24" pos="1321" userDrawn="1">
          <p15:clr>
            <a:srgbClr val="A4A3A4"/>
          </p15:clr>
        </p15:guide>
        <p15:guide id="25" pos="1435" userDrawn="1">
          <p15:clr>
            <a:srgbClr val="A4A3A4"/>
          </p15:clr>
        </p15:guide>
        <p15:guide id="26" pos="1936" userDrawn="1">
          <p15:clr>
            <a:srgbClr val="A4A3A4"/>
          </p15:clr>
        </p15:guide>
        <p15:guide id="27" pos="2051" userDrawn="1">
          <p15:clr>
            <a:srgbClr val="A4A3A4"/>
          </p15:clr>
        </p15:guide>
        <p15:guide id="28" pos="2551" userDrawn="1">
          <p15:clr>
            <a:srgbClr val="A4A3A4"/>
          </p15:clr>
        </p15:guide>
        <p15:guide id="29" pos="2665" userDrawn="1">
          <p15:clr>
            <a:srgbClr val="A4A3A4"/>
          </p15:clr>
        </p15:guide>
        <p15:guide id="30" pos="3167" userDrawn="1">
          <p15:clr>
            <a:srgbClr val="A4A3A4"/>
          </p15:clr>
        </p15:guide>
        <p15:guide id="31" pos="3281" userDrawn="1">
          <p15:clr>
            <a:srgbClr val="A4A3A4"/>
          </p15:clr>
        </p15:guide>
        <p15:guide id="32" pos="3783" userDrawn="1">
          <p15:clr>
            <a:srgbClr val="A4A3A4"/>
          </p15:clr>
        </p15:guide>
        <p15:guide id="33" pos="3896" userDrawn="1">
          <p15:clr>
            <a:srgbClr val="A4A3A4"/>
          </p15:clr>
        </p15:guide>
        <p15:guide id="34" pos="4397" userDrawn="1">
          <p15:clr>
            <a:srgbClr val="A4A3A4"/>
          </p15:clr>
        </p15:guide>
        <p15:guide id="35" pos="4512" userDrawn="1">
          <p15:clr>
            <a:srgbClr val="A4A3A4"/>
          </p15:clr>
        </p15:guide>
        <p15:guide id="36" pos="5013" userDrawn="1">
          <p15:clr>
            <a:srgbClr val="A4A3A4"/>
          </p15:clr>
        </p15:guide>
        <p15:guide id="37" pos="5128" userDrawn="1">
          <p15:clr>
            <a:srgbClr val="A4A3A4"/>
          </p15:clr>
        </p15:guide>
        <p15:guide id="38" pos="5629" userDrawn="1">
          <p15:clr>
            <a:srgbClr val="A4A3A4"/>
          </p15:clr>
        </p15:guide>
        <p15:guide id="39" pos="5742" userDrawn="1">
          <p15:clr>
            <a:srgbClr val="A4A3A4"/>
          </p15:clr>
        </p15:guide>
        <p15:guide id="40" pos="6244" userDrawn="1">
          <p15:clr>
            <a:srgbClr val="A4A3A4"/>
          </p15:clr>
        </p15:guide>
        <p15:guide id="41" pos="6359" userDrawn="1">
          <p15:clr>
            <a:srgbClr val="A4A3A4"/>
          </p15:clr>
        </p15:guide>
        <p15:guide id="42" pos="6859" userDrawn="1">
          <p15:clr>
            <a:srgbClr val="A4A3A4"/>
          </p15:clr>
        </p15:guide>
        <p15:guide id="43" pos="6975" userDrawn="1">
          <p15:clr>
            <a:srgbClr val="A4A3A4"/>
          </p15:clr>
        </p15:guide>
        <p15:guide id="44" orient="horz" pos="784" userDrawn="1">
          <p15:clr>
            <a:srgbClr val="A4A3A4"/>
          </p15:clr>
        </p15:guide>
        <p15:guide id="45" orient="horz" pos="980" userDrawn="1">
          <p15:clr>
            <a:srgbClr val="A4A3A4"/>
          </p15:clr>
        </p15:guide>
        <p15:guide id="46" orient="horz" pos="1962" userDrawn="1">
          <p15:clr>
            <a:srgbClr val="A4A3A4"/>
          </p15:clr>
        </p15:guide>
        <p15:guide id="47" orient="horz" pos="2747" userDrawn="1">
          <p15:clr>
            <a:srgbClr val="A4A3A4"/>
          </p15:clr>
        </p15:guide>
        <p15:guide id="48" orient="horz" pos="2945" userDrawn="1">
          <p15:clr>
            <a:srgbClr val="A4A3A4"/>
          </p15:clr>
        </p15:guide>
        <p15:guide id="49" orient="horz" pos="3141" userDrawn="1">
          <p15:clr>
            <a:srgbClr val="A4A3A4"/>
          </p15:clr>
        </p15:guide>
        <p15:guide id="50" orient="horz" pos="3337" userDrawn="1">
          <p15:clr>
            <a:srgbClr val="A4A3A4"/>
          </p15:clr>
        </p15:guide>
        <p15:guide id="51" orient="horz" pos="3535" userDrawn="1">
          <p15:clr>
            <a:srgbClr val="A4A3A4"/>
          </p15:clr>
        </p15:guide>
        <p15:guide id="52" orient="horz" pos="3730" userDrawn="1">
          <p15:clr>
            <a:srgbClr val="A4A3A4"/>
          </p15:clr>
        </p15:guide>
        <p15:guide id="53" orient="horz" pos="3936" userDrawn="1">
          <p15:clr>
            <a:srgbClr val="A4A3A4"/>
          </p15:clr>
        </p15:guide>
        <p15:guide id="54" orient="horz" pos="187" userDrawn="1">
          <p15:clr>
            <a:srgbClr val="9FCC3B"/>
          </p15:clr>
        </p15:guide>
        <p15:guide id="55" pos="455" userDrawn="1">
          <p15:clr>
            <a:srgbClr val="9FCC3B"/>
          </p15:clr>
        </p15:guide>
        <p15:guide id="56" pos="1069" userDrawn="1">
          <p15:clr>
            <a:srgbClr val="9FCC3B"/>
          </p15:clr>
        </p15:guide>
        <p15:guide id="57" pos="1685" userDrawn="1">
          <p15:clr>
            <a:srgbClr val="9FCC3B"/>
          </p15:clr>
        </p15:guide>
        <p15:guide id="58" pos="2301" userDrawn="1">
          <p15:clr>
            <a:srgbClr val="9FCC3B"/>
          </p15:clr>
        </p15:guide>
        <p15:guide id="59" pos="2915" userDrawn="1">
          <p15:clr>
            <a:srgbClr val="9FCC3B"/>
          </p15:clr>
        </p15:guide>
        <p15:guide id="60" pos="3531" userDrawn="1">
          <p15:clr>
            <a:srgbClr val="9FCC3B"/>
          </p15:clr>
        </p15:guide>
        <p15:guide id="61" pos="4146" userDrawn="1">
          <p15:clr>
            <a:srgbClr val="9FCC3B"/>
          </p15:clr>
        </p15:guide>
        <p15:guide id="62" pos="4762" userDrawn="1">
          <p15:clr>
            <a:srgbClr val="9FCC3B"/>
          </p15:clr>
        </p15:guide>
        <p15:guide id="63" pos="5378" userDrawn="1">
          <p15:clr>
            <a:srgbClr val="9FCC3B"/>
          </p15:clr>
        </p15:guide>
        <p15:guide id="64" pos="5992" userDrawn="1">
          <p15:clr>
            <a:srgbClr val="9FCC3B"/>
          </p15:clr>
        </p15:guide>
        <p15:guide id="65" pos="6609" userDrawn="1">
          <p15:clr>
            <a:srgbClr val="9FCC3B"/>
          </p15:clr>
        </p15:guide>
        <p15:guide id="66" pos="7225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NatWest Card Payments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From a customer click to a board-level health score  -  chaos, impact, recovery on one screen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Solution Engineering  -  Splunk ITSI + Observability Cloud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Cisco  /  Splunk Executive Briefing  -  June 2026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health is business health  -  on the same screen.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Most observability tools tell your SREs which service is slow. ITSI rolls that up to which business outcome is breaking, for whom, and how bad.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board actually asks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Are payments flowing right now?</a:t>
            </a:r>
          </a:p>
          <a:p>
            <a:r>
              <a:t>How much money has cleared in the last 15 minutes?</a:t>
            </a:r>
          </a:p>
          <a:p>
            <a:r>
              <a:t>How many of my customers are hurting?</a:t>
            </a:r>
          </a:p>
          <a:p>
            <a:r>
              <a:t>When something breaks  -  where in the lifecycle is it failing, and which team do I wake up?</a:t>
            </a:r>
          </a:p>
          <a:p>
            <a:r>
              <a:t>Bonus: did anyone change anything (deploy, chaos test, vendor outage) in the last hour?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card-payment lifecycle  -  5 steps, not 24 microservices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We modelled the journey the way the business thinks about it, not the way Kubernetes does.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1. Initiate</a:t>
            </a:r>
          </a:p>
          <a:p>
            <a:pPr lvl="1"/>
            <a:r>
              <a:t>Customer presses Pay</a:t>
            </a:r>
          </a:p>
          <a:p>
            <a:pPr lvl="1"/>
            <a:r>
              <a:t>web-frontend</a:t>
            </a:r>
          </a:p>
          <a:p>
            <a:pPr lvl="1"/>
            <a:r>
              <a:t>payment-initiation-service</a:t>
            </a:r>
          </a:p>
          <a:p>
            <a:endParaRPr/>
          </a:p>
          <a:p>
            <a:r>
              <a:t>2. Authenticate</a:t>
            </a:r>
          </a:p>
          <a:p>
            <a:pPr lvl="1"/>
            <a:r>
              <a:t>Who are you, limits OK?</a:t>
            </a:r>
          </a:p>
          <a:p>
            <a:pPr lvl="1"/>
            <a:r>
              <a:t>user-service</a:t>
            </a:r>
          </a:p>
          <a:p>
            <a:pPr lvl="1"/>
            <a:r>
              <a:t>customer-profile-service</a:t>
            </a:r>
          </a:p>
          <a:p>
            <a:pPr lvl="1"/>
            <a:r>
              <a:t>limits-service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3. Authorise</a:t>
            </a:r>
          </a:p>
          <a:p>
            <a:pPr lvl="1"/>
            <a:r>
              <a:t>Is this legitimate?</a:t>
            </a:r>
          </a:p>
          <a:p>
            <a:pPr lvl="1"/>
            <a:r>
              <a:t>fraud-detection-service</a:t>
            </a:r>
          </a:p>
          <a:p>
            <a:pPr lvl="1"/>
            <a:r>
              <a:t>sanctions-aml-service</a:t>
            </a:r>
          </a:p>
          <a:p>
            <a:pPr lvl="1"/>
            <a:r>
              <a:t>payment-validation-service</a:t>
            </a:r>
          </a:p>
          <a:p>
            <a:endParaRPr/>
          </a:p>
          <a:p>
            <a:r>
              <a:t>4. Process</a:t>
            </a:r>
          </a:p>
          <a:p>
            <a:pPr lvl="1"/>
            <a:r>
              <a:t>Route, price, post, debit</a:t>
            </a:r>
          </a:p>
          <a:p>
            <a:pPr lvl="1"/>
            <a:r>
              <a:t>routing-service</a:t>
            </a:r>
          </a:p>
          <a:p>
            <a:pPr lvl="1"/>
            <a:r>
              <a:t>fee-pricing-service</a:t>
            </a:r>
          </a:p>
          <a:p>
            <a:pPr lvl="1"/>
            <a:r>
              <a:t>ledger / beneficiary / account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5. Settle &amp; Notify</a:t>
            </a:r>
          </a:p>
          <a:p>
            <a:pPr lvl="1"/>
            <a:r>
              <a:t>Hand to scheme, reconcile, notify</a:t>
            </a:r>
          </a:p>
          <a:p>
            <a:pPr lvl="1"/>
            <a:r>
              <a:t>settlement-service</a:t>
            </a:r>
          </a:p>
          <a:p>
            <a:pPr lvl="1"/>
            <a:r>
              <a:t>reconciliation-service</a:t>
            </a:r>
          </a:p>
          <a:p>
            <a:pPr lvl="1"/>
            <a:r>
              <a:t>notification-service</a:t>
            </a:r>
          </a:p>
          <a:p>
            <a:pPr lvl="1"/>
            <a:r>
              <a:t>payment-status-service</a:t>
            </a:r>
          </a:p>
          <a:p>
            <a:pPr lvl="1"/>
            <a:r>
              <a:t>Networks</a:t>
            </a:r>
          </a:p>
          <a:p>
            <a:pPr lvl="2"/>
            <a:r>
              <a:t>FPS, BACS, CHAPS, SWIFT, SEPA, Cheque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board  -  let me show you, live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you're looking at  (reference)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Top strip  -  L1 score, payments/min, value authorised, customers impacted, success rate</a:t>
            </a:r>
          </a:p>
          <a:p>
            <a:r>
              <a:t>Journey row  -  one tile per lifecycle step (Initiate, Authenticate, Authorise, Process, Settle &amp; Notify)</a:t>
            </a:r>
          </a:p>
          <a:p>
            <a:r>
              <a:t>Each step tile is min(health) across its member L3 services  -  weakest link, not the average</a:t>
            </a:r>
          </a:p>
          <a:p>
            <a:r>
              <a:t>Infrastructure row  -  Postgres, Redis, Kafka, OTel Collector, Splunk Enterprise</a:t>
            </a:r>
          </a:p>
          <a:p>
            <a:r>
              <a:t>Geo map  -  customer destinations over the last hour</a:t>
            </a:r>
          </a:p>
          <a:p>
            <a:r>
              <a:t>Chaos timeline  -  every inject and clear, with operator audit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Behind the score  -  the service tree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L1  -  NatWest Card Payments</a:t>
            </a:r>
          </a:p>
          <a:p>
            <a:pPr lvl="1"/>
            <a:r>
              <a:t>One headline health score</a:t>
            </a:r>
          </a:p>
          <a:p>
            <a:endParaRPr/>
          </a:p>
          <a:p>
            <a:r>
              <a:t>L2  -  Customer cohorts</a:t>
            </a:r>
          </a:p>
          <a:p>
            <a:pPr lvl="1"/>
            <a:r>
              <a:t>Bronze / Silver / Gold experience</a:t>
            </a:r>
          </a:p>
          <a:p>
            <a:pPr lvl="1"/>
            <a:r>
              <a:t>Payments-by-Location (European view)</a:t>
            </a:r>
          </a:p>
          <a:p>
            <a:endParaRPr/>
          </a:p>
          <a:p>
            <a:r>
              <a:t>L3  -  24 microservices</a:t>
            </a:r>
          </a:p>
          <a:p>
            <a:pPr lvl="1"/>
            <a:r>
              <a:t>Latency, error-rate, throughput KPIs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L4  -  Infrastructure</a:t>
            </a:r>
          </a:p>
          <a:p>
            <a:pPr lvl="1"/>
            <a:r>
              <a:t>Postgres, Redis, Kafka</a:t>
            </a:r>
          </a:p>
          <a:p>
            <a:pPr lvl="1"/>
            <a:r>
              <a:t>OTel Collector, Splunk Enterprise</a:t>
            </a:r>
          </a:p>
          <a:p>
            <a:endParaRPr/>
          </a:p>
          <a:p>
            <a:r>
              <a:t>How a critical KPI propagates</a:t>
            </a:r>
          </a:p>
          <a:p>
            <a:pPr lvl="1"/>
            <a:r>
              <a:t>L4 KPI critical → L3 score drops</a:t>
            </a:r>
          </a:p>
          <a:p>
            <a:pPr lvl="1"/>
            <a:r>
              <a:t>→ L2 cohort drops → L1 score drops</a:t>
            </a:r>
          </a:p>
          <a:p>
            <a:endParaRPr/>
          </a:p>
          <a:p>
            <a:r>
              <a:t>KPI weights tune the loudness</a:t>
            </a:r>
          </a:p>
          <a:p>
            <a:pPr lvl="1"/>
            <a:r>
              <a:t>brokers_online = 11 (load-bearing)</a:t>
            </a:r>
          </a:p>
          <a:p>
            <a:pPr lvl="1"/>
            <a:r>
              <a:t>p99 latency blip = 1 (noisy, ignore)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Now let's break something  -  on purpose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chaos toolbox  -  controlled, audited, namespace-scoped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Catalogue (~ 20 scenarios)</a:t>
            </a:r>
          </a:p>
          <a:p>
            <a:pPr lvl="1"/>
            <a:r>
              <a:t>Application errors  -  bad-deploy-fraud, swift-counterparty-flap</a:t>
            </a:r>
          </a:p>
          <a:p>
            <a:pPr lvl="1"/>
            <a:r>
              <a:t>Latency injection  -  db-slow, tail-latency-storm, madrid-network-degradation</a:t>
            </a:r>
          </a:p>
          <a:p>
            <a:pPr lvl="1"/>
            <a:r>
              <a:t>Tier degradations  -  inject-tier-throttle, gold-fast-path-off</a:t>
            </a:r>
          </a:p>
          <a:p>
            <a:pPr lvl="1"/>
            <a:r>
              <a:t>Infrastructure outages  -  postgres-outage, redis-outage, kafka-outage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Safety rails</a:t>
            </a:r>
          </a:p>
          <a:p>
            <a:pPr lvl="1"/>
            <a:r>
              <a:t>Namespace-scoped RBAC  -  patches deployments inside `natwest` only</a:t>
            </a:r>
          </a:p>
          <a:p>
            <a:pPr lvl="1"/>
            <a:r>
              <a:t>No cluster-scoped verbs, no secrets, no exec</a:t>
            </a:r>
          </a:p>
          <a:p>
            <a:pPr lvl="1"/>
            <a:r>
              <a:t>Every inject / clear is audited (actor, scenario, target, timestamp)</a:t>
            </a:r>
          </a:p>
          <a:p>
            <a:pPr lvl="1"/>
            <a:r>
              <a:t>Audit feeds the glass-table chaos timeline  -  no mystery red tiles</a:t>
            </a:r>
          </a:p>
          <a:p>
            <a:endParaRPr/>
          </a:p>
          <a:p>
            <a:r>
              <a:t>For this demo  -  redis-outage</a:t>
            </a:r>
          </a:p>
          <a:p>
            <a:pPr lvl="1"/>
            <a:r>
              <a:t>Scales redis deployment 1 → 0</a:t>
            </a:r>
          </a:p>
          <a:p>
            <a:pPr lvl="1"/>
            <a:r>
              <a:t>Expect Authorise + Process to feel it first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Walkthrough  -  redis-outage  (~ 4 minutes)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Don't read the table  -  narrate the event. The audience reads along.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397245"/>
              </p:ext>
            </p:extLst>
          </p:nvPr>
        </p:nvGraphicFramePr>
        <p:xfrm>
          <a:off x="323850" y="1555750"/>
          <a:ext cx="11544300" cy="45196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32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</a:rP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</a:rPr>
                        <a:t>What you 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</a:rPr>
                        <a:t>What the board does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268"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chemeClr val="tx1"/>
                          </a:solidFill>
                        </a:rPr>
                        <a:t>T+0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chemeClr val="tx1"/>
                          </a:solidFill>
                        </a:rPr>
                        <a:t>Click Inject (redis-outage) in the Chaos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chemeClr val="tx1"/>
                          </a:solidFill>
                        </a:rPr>
                        <a:t>Chaos-timeline bar appears at minute T  -  the audit trail starts here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32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chemeClr val="tx1"/>
                          </a:solidFill>
                        </a:rPr>
                        <a:t>T+1m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chemeClr val="tx1"/>
                          </a:solidFill>
                        </a:rPr>
                        <a:t>Switch tabs to the glass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chemeClr val="tx1"/>
                          </a:solidFill>
                        </a:rPr>
                        <a:t>Redis tile (infrastructure row) flips amber. connected_clients =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32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chemeClr val="tx1"/>
                          </a:solidFill>
                        </a:rPr>
                        <a:t>T+2m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chemeClr val="tx1"/>
                          </a:solidFill>
                        </a:rPr>
                        <a:t>Hold on the glass table, narrate the spread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chemeClr val="tx1"/>
                          </a:solidFill>
                        </a:rPr>
                        <a:t>Authorise (step 3) turns yellow  -  fraud-detection timing out on Redis lookups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32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chemeClr val="tx1"/>
                          </a:solidFill>
                        </a:rPr>
                        <a:t>T+3m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chemeClr val="tx1"/>
                          </a:solidFill>
                        </a:rPr>
                        <a:t>Pause for ~ 10 seconds, let it 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chemeClr val="tx1"/>
                          </a:solidFill>
                        </a:rPr>
                        <a:t>Redis critical red, Authorise red, L1 score 94 → ~ 30, success rate &lt; 95%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32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chemeClr val="tx1"/>
                          </a:solidFill>
                        </a:rPr>
                        <a:t>T+3m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chemeClr val="tx1"/>
                          </a:solidFill>
                        </a:rPr>
                        <a:t>Point at the chaos timeline at the bottom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chemeClr val="tx1"/>
                          </a:solidFill>
                        </a:rPr>
                        <a:t>The inject bar lines up with the moment tiles started flipping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in one click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Click Clear on redis-outage in the Chaos Dashboard  -  audit records the clear</a:t>
            </a:r>
          </a:p>
          <a:p>
            <a:r>
              <a:t>Kubernetes scales redis 0 → 1, pod restarts in ~ 30 seconds</a:t>
            </a:r>
          </a:p>
          <a:p>
            <a:r>
              <a:t>Infrastructure KPIs use a 5-minute rolling minimum  -  green takes ~ 4 minutes to settle</a:t>
            </a:r>
          </a:p>
          <a:p>
            <a:r>
              <a:t>Deliberate hysteresis: better a slow earned green than a flapping green when the pod is half-up</a:t>
            </a:r>
          </a:p>
          <a:p>
            <a:r>
              <a:t>Redis tile recovers → Authorise recovers → L1 score climbs back to 90+</a:t>
            </a:r>
          </a:p>
          <a:p>
            <a:r>
              <a:t>The demo isn't the outage  -  it's the loop  -  inject, observe, recover, observe, on one 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screen. Two audiences. Same number.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Your SRE on-call and your VP Payments look at the same number  -  they just click into it from different sides.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  -  half a day, your top service, your real chaos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Your Head of Card Operations, your SRE lead, and a business owner in the room</a:t>
            </a:r>
          </a:p>
          <a:p>
            <a:r>
              <a:t>We model your top business service the way we modelled card payments here  -  lifecycle, not microservices</a:t>
            </a:r>
          </a:p>
          <a:p>
            <a:r>
              <a:t>We wire one chaos scenario you actually fear  -  and we run it with you in the room</a:t>
            </a:r>
          </a:p>
          <a:p>
            <a:r>
              <a:t>By the end of the half-day  -  an L1 service in ITSI you can put on the wall of your ops centre tomorrow</a:t>
            </a:r>
          </a:p>
          <a:p>
            <a:r>
              <a:t>Take-aways  -  service-tree.yaml, the chaos controller, this glass-table source, this talk track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sco Dark 05-21-2025">
  <a:themeElements>
    <a:clrScheme name="Cisco Dark 4-16-2025">
      <a:dk1>
        <a:srgbClr val="FFFFFF"/>
      </a:dk1>
      <a:lt1>
        <a:srgbClr val="07182D"/>
      </a:lt1>
      <a:dk2>
        <a:srgbClr val="B4B9C0"/>
      </a:dk2>
      <a:lt2>
        <a:srgbClr val="525E6C"/>
      </a:lt2>
      <a:accent1>
        <a:srgbClr val="02C8FF"/>
      </a:accent1>
      <a:accent2>
        <a:srgbClr val="0A60FF"/>
      </a:accent2>
      <a:accent3>
        <a:srgbClr val="FF007F"/>
      </a:accent3>
      <a:accent4>
        <a:srgbClr val="FF9000"/>
      </a:accent4>
      <a:accent5>
        <a:srgbClr val="D6D6D6"/>
      </a:accent5>
      <a:accent6>
        <a:srgbClr val="6B6B6B"/>
      </a:accent6>
      <a:hlink>
        <a:srgbClr val="FFFFFF"/>
      </a:hlink>
      <a:folHlink>
        <a:srgbClr val="C0C0C0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5875">
          <a:solidFill>
            <a:schemeClr val="bg2"/>
          </a:solidFill>
        </a:ln>
        <a:effectLst/>
      </a:spPr>
      <a:bodyPr wrap="square" lIns="182880" tIns="182880" rIns="182880" bIns="182880" rtlCol="0" anchor="t" anchorCtr="0">
        <a:noAutofit/>
      </a:bodyPr>
      <a:lstStyle>
        <a:defPPr marL="182880" indent="-182880" algn="l">
          <a:buFont typeface="Arial" panose="020B0604020202020204" pitchFamily="34" charset="0"/>
          <a:buChar char="•"/>
          <a:defRPr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marL="182880" indent="-182880" algn="l" defTabSz="912276" rtl="0" eaLnBrk="1" fontAlgn="base" hangingPunct="1">
          <a:lnSpc>
            <a:spcPct val="100000"/>
          </a:lnSpc>
          <a:spcBef>
            <a:spcPts val="0"/>
          </a:spcBef>
          <a:spcAft>
            <a:spcPts val="1000"/>
          </a:spcAft>
          <a:buClr>
            <a:schemeClr val="bg1"/>
          </a:buClr>
          <a:buSzPct val="100000"/>
          <a:buFont typeface="Arial" panose="020B0604020202020204" pitchFamily="34" charset="0"/>
          <a:buChar char="•"/>
          <a:defRPr sz="1600" kern="1200" dirty="0" err="1" smtClean="0">
            <a:solidFill>
              <a:schemeClr val="bg1"/>
            </a:solidFill>
            <a:latin typeface="+mn-lt"/>
            <a:ea typeface="ＭＳ Ｐゴシック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1DDA99DF-BD65-45D7-9209-05BB59C7805C}" vid="{205FDE3D-C9AD-4226-B73C-33B5353AA9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ae0796f-3f79-47f8-9254-3ebe45a397a1" xsi:nil="true"/>
    <lcf76f155ced4ddcb4097134ff3c332f xmlns="2e65d8ee-2953-4673-ad99-27624901415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0E7D1B9548924AAE4F0FF4B9C0678A" ma:contentTypeVersion="14" ma:contentTypeDescription="Create a new document." ma:contentTypeScope="" ma:versionID="6d5c42abccfba39ba0764d42219101b1">
  <xsd:schema xmlns:xsd="http://www.w3.org/2001/XMLSchema" xmlns:xs="http://www.w3.org/2001/XMLSchema" xmlns:p="http://schemas.microsoft.com/office/2006/metadata/properties" xmlns:ns2="2e65d8ee-2953-4673-ad99-276249014155" xmlns:ns3="eae0796f-3f79-47f8-9254-3ebe45a397a1" targetNamespace="http://schemas.microsoft.com/office/2006/metadata/properties" ma:root="true" ma:fieldsID="9f986a869d2c675aa3724b51e9b68646" ns2:_="" ns3:_="">
    <xsd:import namespace="2e65d8ee-2953-4673-ad99-276249014155"/>
    <xsd:import namespace="eae0796f-3f79-47f8-9254-3ebe45a397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65d8ee-2953-4673-ad99-2762490141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710261dd-85c0-4e16-8580-30375acfae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e0796f-3f79-47f8-9254-3ebe45a397a1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cbabb613-7296-41bb-af97-faea02701df3}" ma:internalName="TaxCatchAll" ma:showField="CatchAllData" ma:web="eae0796f-3f79-47f8-9254-3ebe45a397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013C9EB-7FF3-4AB9-B62D-F43D840883E9}">
  <ds:schemaRefs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eae0796f-3f79-47f8-9254-3ebe45a397a1"/>
    <ds:schemaRef ds:uri="2e65d8ee-2953-4673-ad99-276249014155"/>
  </ds:schemaRefs>
</ds:datastoreItem>
</file>

<file path=customXml/itemProps2.xml><?xml version="1.0" encoding="utf-8"?>
<ds:datastoreItem xmlns:ds="http://schemas.openxmlformats.org/officeDocument/2006/customXml" ds:itemID="{489D2934-02C6-4E49-9050-16670E0D62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022F2E-3AB2-43CB-BE15-B6A1F950F95A}">
  <ds:schemaRefs>
    <ds:schemaRef ds:uri="2e65d8ee-2953-4673-ad99-276249014155"/>
    <ds:schemaRef ds:uri="eae0796f-3f79-47f8-9254-3ebe45a397a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Cisco Dark 05-21-2025</Template>
  <TotalTime>19</TotalTime>
  <Words>1922</Words>
  <Application>Microsoft Macintosh PowerPoint</Application>
  <PresentationFormat>Widescreen</PresentationFormat>
  <Paragraphs>203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Arial</vt:lpstr>
      <vt:lpstr>CiscoSansTT Medium</vt:lpstr>
      <vt:lpstr>CiscoSansTT</vt:lpstr>
      <vt:lpstr>Cisco Dark 05-21-2025</vt:lpstr>
      <vt:lpstr>NatWest Card Payments</vt:lpstr>
      <vt:lpstr>Service health is business health  -  on the same screen.</vt:lpstr>
      <vt:lpstr>What the board actually asks</vt:lpstr>
      <vt:lpstr>The card-payment lifecycle  -  5 steps, not 24 microservices</vt:lpstr>
      <vt:lpstr>The board  -  let me show you, live</vt:lpstr>
      <vt:lpstr>What you're looking at  (reference)</vt:lpstr>
      <vt:lpstr>Behind the score  -  the service tree</vt:lpstr>
      <vt:lpstr>Now let's break something  -  on purpose</vt:lpstr>
      <vt:lpstr>The chaos toolbox  -  controlled, audited, namespace-scoped</vt:lpstr>
      <vt:lpstr>Walkthrough  -  redis-outage  (~ 4 minutes)</vt:lpstr>
      <vt:lpstr>Recovery in one click</vt:lpstr>
      <vt:lpstr>One screen. Two audiences. Same number.</vt:lpstr>
      <vt:lpstr>Next step  -  half a day, your top service, your real chaos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Paul Bannister (pbannist)</dc:creator>
  <cp:keywords/>
  <dc:description/>
  <cp:lastModifiedBy>Marc Serieys (mserieys)</cp:lastModifiedBy>
  <cp:revision>4</cp:revision>
  <dcterms:created xsi:type="dcterms:W3CDTF">2026-03-30T08:09:01Z</dcterms:created>
  <dcterms:modified xsi:type="dcterms:W3CDTF">2026-06-15T08:35:08Z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49a32-fde3-48a5-9266-b5b0972a22dc_Enabled">
    <vt:lpwstr>true</vt:lpwstr>
  </property>
  <property fmtid="{D5CDD505-2E9C-101B-9397-08002B2CF9AE}" pid="3" name="MSIP_Label_c8f49a32-fde3-48a5-9266-b5b0972a22dc_SetDate">
    <vt:lpwstr>2025-05-15T21:49:40Z</vt:lpwstr>
  </property>
  <property fmtid="{D5CDD505-2E9C-101B-9397-08002B2CF9AE}" pid="4" name="MSIP_Label_c8f49a32-fde3-48a5-9266-b5b0972a22dc_Method">
    <vt:lpwstr>Standard</vt:lpwstr>
  </property>
  <property fmtid="{D5CDD505-2E9C-101B-9397-08002B2CF9AE}" pid="5" name="MSIP_Label_c8f49a32-fde3-48a5-9266-b5b0972a22dc_Name">
    <vt:lpwstr>Cisco Confidential</vt:lpwstr>
  </property>
  <property fmtid="{D5CDD505-2E9C-101B-9397-08002B2CF9AE}" pid="6" name="MSIP_Label_c8f49a32-fde3-48a5-9266-b5b0972a22dc_SiteId">
    <vt:lpwstr>5ae1af62-9505-4097-a69a-c1553ef7840e</vt:lpwstr>
  </property>
  <property fmtid="{D5CDD505-2E9C-101B-9397-08002B2CF9AE}" pid="7" name="MSIP_Label_c8f49a32-fde3-48a5-9266-b5b0972a22dc_ActionId">
    <vt:lpwstr>219e4d3d-e52c-4661-a7c5-2e875435f34b</vt:lpwstr>
  </property>
  <property fmtid="{D5CDD505-2E9C-101B-9397-08002B2CF9AE}" pid="8" name="MSIP_Label_c8f49a32-fde3-48a5-9266-b5b0972a22dc_ContentBits">
    <vt:lpwstr>2</vt:lpwstr>
  </property>
  <property fmtid="{D5CDD505-2E9C-101B-9397-08002B2CF9AE}" pid="9" name="MSIP_Label_c8f49a32-fde3-48a5-9266-b5b0972a22dc_Tag">
    <vt:lpwstr>10, 3, 0, 1</vt:lpwstr>
  </property>
  <property fmtid="{D5CDD505-2E9C-101B-9397-08002B2CF9AE}" pid="10" name="ClassificationContentMarkingFooterLocations">
    <vt:lpwstr>Cisco Dark 05-12-2025:8</vt:lpwstr>
  </property>
  <property fmtid="{D5CDD505-2E9C-101B-9397-08002B2CF9AE}" pid="11" name="ClassificationContentMarkingFooterText">
    <vt:lpwstr>Cisco Confidential</vt:lpwstr>
  </property>
  <property fmtid="{D5CDD505-2E9C-101B-9397-08002B2CF9AE}" pid="12" name="ContentTypeId">
    <vt:lpwstr>0x010100530E7D1B9548924AAE4F0FF4B9C0678A</vt:lpwstr>
  </property>
  <property fmtid="{D5CDD505-2E9C-101B-9397-08002B2CF9AE}" pid="13" name="MediaServiceImageTags">
    <vt:lpwstr/>
  </property>
</Properties>
</file>