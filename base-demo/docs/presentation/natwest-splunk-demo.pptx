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2"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embeddedFontLst>
    <p:embeddedFont>
      <p:font typeface="CiscoSansTT" panose="020B0503020201020303" pitchFamily="34" charset="0"/>
      <p:regular r:id="rId29"/>
      <p:bold r:id="rId30"/>
      <p:italic r:id="rId31"/>
      <p:boldItalic r:id="rId32"/>
    </p:embeddedFont>
    <p:embeddedFont>
      <p:font typeface="CiscoSansTT Medium" panose="020B0903020201090303" pitchFamily="3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4C90F0F-BED1-0E48-A6CF-8817FC41D70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Workshop" id="{A56D91FC-C435-DA45-8895-DB43AE0515C0}">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DE2"/>
    <a:srgbClr val="EB4651"/>
    <a:srgbClr val="45991F"/>
    <a:srgbClr val="B4B9C0"/>
    <a:srgbClr val="525E6C"/>
    <a:srgbClr val="6B6B6B"/>
    <a:srgbClr val="D6D6D6"/>
    <a:srgbClr val="FF9000"/>
    <a:srgbClr val="FF007F"/>
    <a:srgbClr val="0A6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02"/>
    <p:restoredTop sz="94592"/>
  </p:normalViewPr>
  <p:slideViewPr>
    <p:cSldViewPr snapToGrid="0">
      <p:cViewPr varScale="1">
        <p:scale>
          <a:sx n="183" d="100"/>
          <a:sy n="183" d="100"/>
        </p:scale>
        <p:origin x="392" y="200"/>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Serieys (mserieys)" userId="366f8bd7-c9d9-434b-b2ee-8e0708712db4" providerId="ADAL" clId="{E15F2CE2-348E-508F-B15A-44D26921E01E}"/>
    <pc:docChg chg="custSel modSld">
      <pc:chgData name="Marc Serieys (mserieys)" userId="366f8bd7-c9d9-434b-b2ee-8e0708712db4" providerId="ADAL" clId="{E15F2CE2-348E-508F-B15A-44D26921E01E}" dt="2026-05-12T11:13:56.446" v="7" actId="207"/>
      <pc:docMkLst>
        <pc:docMk/>
      </pc:docMkLst>
      <pc:sldChg chg="addSp delSp modSp mod">
        <pc:chgData name="Marc Serieys (mserieys)" userId="366f8bd7-c9d9-434b-b2ee-8e0708712db4" providerId="ADAL" clId="{E15F2CE2-348E-508F-B15A-44D26921E01E}" dt="2026-05-12T10:56:50.842" v="5" actId="20577"/>
        <pc:sldMkLst>
          <pc:docMk/>
          <pc:sldMk cId="0" sldId="257"/>
        </pc:sldMkLst>
        <pc:spChg chg="del">
          <ac:chgData name="Marc Serieys (mserieys)" userId="366f8bd7-c9d9-434b-b2ee-8e0708712db4" providerId="ADAL" clId="{E15F2CE2-348E-508F-B15A-44D26921E01E}" dt="2026-05-12T10:56:46.080" v="3" actId="478"/>
          <ac:spMkLst>
            <pc:docMk/>
            <pc:sldMk cId="0" sldId="257"/>
            <ac:spMk id="3" creationId="{00000000-0000-0000-0000-000000000000}"/>
          </ac:spMkLst>
        </pc:spChg>
        <pc:spChg chg="mod">
          <ac:chgData name="Marc Serieys (mserieys)" userId="366f8bd7-c9d9-434b-b2ee-8e0708712db4" providerId="ADAL" clId="{E15F2CE2-348E-508F-B15A-44D26921E01E}" dt="2026-05-12T10:56:50.842" v="5" actId="20577"/>
          <ac:spMkLst>
            <pc:docMk/>
            <pc:sldMk cId="0" sldId="257"/>
            <ac:spMk id="4" creationId="{00000000-0000-0000-0000-000000000000}"/>
          </ac:spMkLst>
        </pc:spChg>
        <pc:spChg chg="add del mod">
          <ac:chgData name="Marc Serieys (mserieys)" userId="366f8bd7-c9d9-434b-b2ee-8e0708712db4" providerId="ADAL" clId="{E15F2CE2-348E-508F-B15A-44D26921E01E}" dt="2026-05-12T10:56:48.535" v="4" actId="478"/>
          <ac:spMkLst>
            <pc:docMk/>
            <pc:sldMk cId="0" sldId="257"/>
            <ac:spMk id="6" creationId="{5307EE9D-ECB2-534E-8E04-BF6641C698CE}"/>
          </ac:spMkLst>
        </pc:spChg>
      </pc:sldChg>
      <pc:sldChg chg="modSp mod">
        <pc:chgData name="Marc Serieys (mserieys)" userId="366f8bd7-c9d9-434b-b2ee-8e0708712db4" providerId="ADAL" clId="{E15F2CE2-348E-508F-B15A-44D26921E01E}" dt="2026-05-12T11:07:41.079" v="6" actId="207"/>
        <pc:sldMkLst>
          <pc:docMk/>
          <pc:sldMk cId="0" sldId="260"/>
        </pc:sldMkLst>
        <pc:graphicFrameChg chg="modGraphic">
          <ac:chgData name="Marc Serieys (mserieys)" userId="366f8bd7-c9d9-434b-b2ee-8e0708712db4" providerId="ADAL" clId="{E15F2CE2-348E-508F-B15A-44D26921E01E}" dt="2026-05-12T11:07:41.079" v="6" actId="207"/>
          <ac:graphicFrameMkLst>
            <pc:docMk/>
            <pc:sldMk cId="0" sldId="260"/>
            <ac:graphicFrameMk id="4" creationId="{00000000-0000-0000-0000-000000000000}"/>
          </ac:graphicFrameMkLst>
        </pc:graphicFrameChg>
      </pc:sldChg>
      <pc:sldChg chg="modSp mod">
        <pc:chgData name="Marc Serieys (mserieys)" userId="366f8bd7-c9d9-434b-b2ee-8e0708712db4" providerId="ADAL" clId="{E15F2CE2-348E-508F-B15A-44D26921E01E}" dt="2026-05-12T11:13:56.446" v="7" actId="207"/>
        <pc:sldMkLst>
          <pc:docMk/>
          <pc:sldMk cId="0" sldId="275"/>
        </pc:sldMkLst>
        <pc:graphicFrameChg chg="modGraphic">
          <ac:chgData name="Marc Serieys (mserieys)" userId="366f8bd7-c9d9-434b-b2ee-8e0708712db4" providerId="ADAL" clId="{E15F2CE2-348E-508F-B15A-44D26921E01E}" dt="2026-05-12T11:13:56.446" v="7" actId="207"/>
          <ac:graphicFrameMkLst>
            <pc:docMk/>
            <pc:sldMk cId="0" sldId="275"/>
            <ac:graphicFrameMk id="4"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2104B-A22A-485F-8181-8B2CD5833538}"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B4990-0A23-4A10-BE7D-7E64CAB85BE3}" type="slidenum">
              <a:rPr lang="en-US" smtClean="0"/>
              <a:t>‹#›</a:t>
            </a:fld>
            <a:endParaRPr lang="en-US"/>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CiscoSansTT" panose="020B0503020201020303" pitchFamily="34" charset="0"/>
      </a:defRPr>
    </a:lvl1pPr>
    <a:lvl2pPr marL="457200" algn="l" defTabSz="914400" rtl="0" eaLnBrk="1" latinLnBrk="0" hangingPunct="1">
      <a:defRPr sz="1200" kern="1200">
        <a:solidFill>
          <a:schemeClr val="tx1"/>
        </a:solidFill>
        <a:latin typeface="+mn-lt"/>
        <a:ea typeface="+mn-ea"/>
        <a:cs typeface="CiscoSansTT" panose="020B0503020201020303" pitchFamily="34" charset="0"/>
      </a:defRPr>
    </a:lvl2pPr>
    <a:lvl3pPr marL="914400" algn="l" defTabSz="914400" rtl="0" eaLnBrk="1" latinLnBrk="0" hangingPunct="1">
      <a:defRPr sz="1200" kern="1200">
        <a:solidFill>
          <a:schemeClr val="tx1"/>
        </a:solidFill>
        <a:latin typeface="+mn-lt"/>
        <a:ea typeface="+mn-ea"/>
        <a:cs typeface="CiscoSansTT" panose="020B0503020201020303" pitchFamily="34" charset="0"/>
      </a:defRPr>
    </a:lvl3pPr>
    <a:lvl4pPr marL="1371600" algn="l" defTabSz="914400" rtl="0" eaLnBrk="1" latinLnBrk="0" hangingPunct="1">
      <a:defRPr sz="1200" kern="1200">
        <a:solidFill>
          <a:schemeClr val="tx1"/>
        </a:solidFill>
        <a:latin typeface="+mn-lt"/>
        <a:ea typeface="+mn-ea"/>
        <a:cs typeface="CiscoSansTT" panose="020B0503020201020303" pitchFamily="34" charset="0"/>
      </a:defRPr>
    </a:lvl4pPr>
    <a:lvl5pPr marL="1828800" algn="l" defTabSz="914400" rtl="0" eaLnBrk="1" latinLnBrk="0" hangingPunct="1">
      <a:defRPr sz="1200" kern="1200">
        <a:solidFill>
          <a:schemeClr val="tx1"/>
        </a:solidFill>
        <a:latin typeface="+mn-lt"/>
        <a:ea typeface="+mn-ea"/>
        <a:cs typeface="CiscoSansTT" panose="020B0503020201020303"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room dark and the SPA visible behind you.</a:t>
            </a:r>
          </a:p>
          <a:p>
            <a:endParaRPr/>
          </a:p>
          <a:p>
            <a:r>
              <a:t>Do not read the title. Hold the slide for one beat, then frame the room:</a:t>
            </a:r>
          </a:p>
          <a:p>
            <a:r>
              <a:t>  'A customer just told your support desk their payment is slow.   Today I want to show you six minutes from that phone call to the   exact line of code that regressed - across 24 services, two   programming languages, and nine European cities, all on one trace ID.'</a:t>
            </a:r>
          </a:p>
          <a:p>
            <a:endParaRPr/>
          </a:p>
          <a:p>
            <a:r>
              <a:t>Move on after roughly 30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through the agenda in roughly 30 seconds. The two anchors are Act I (depth, single investigation) and Act II (breadth, six surfaces). Everything else is supporting.</a:t>
            </a:r>
          </a:p>
          <a:p>
            <a:endParaRPr/>
          </a:p>
          <a:p>
            <a:r>
              <a:t>If the audience is heavily VP-Payments / business: stress the European reach and ITSI rows. If SRE-heavy: stress Act I and the chaos controller.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hook slide. Pause for one beat after the heading.</a:t>
            </a:r>
          </a:p>
          <a:p>
            <a:endParaRPr/>
          </a:p>
          <a:p>
            <a:r>
              <a:t>'Today the on-call walk takes 30-45 minutes and three to five tools. We are going to do it on one screen, on one trace ID, in six minutes.' Bridge directly into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scale of the simulated bank in about 60 seconds. The five numbers to hit out loud are:</a:t>
            </a:r>
          </a:p>
          <a:p>
            <a:r>
              <a:t>  - 24 services</a:t>
            </a:r>
          </a:p>
          <a:p>
            <a:r>
              <a:t>  - 9 European cities (so the Madrid story has context)</a:t>
            </a:r>
          </a:p>
          <a:p>
            <a:r>
              <a:t>  - 3 tiers (Bronze / Silver / Gold personas in the SPA)</a:t>
            </a:r>
          </a:p>
          <a:p>
            <a:r>
              <a:t>  - ~3,000 TPM peak</a:t>
            </a:r>
          </a:p>
          <a:p>
            <a:r>
              <a:t>  - One mental model across every surface</a:t>
            </a:r>
          </a:p>
          <a:p>
            <a:endParaRPr/>
          </a:p>
          <a:p>
            <a:r>
              <a:t>Do NOT enumerate the schemes; the bullet is for the slide, the verbal beat is 'every UK payment scheme'.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Capability matrix - resist the temptation to read every row.</a:t>
            </a:r>
          </a:p>
          <a:p>
            <a:endParaRPr/>
          </a:p>
          <a:p>
            <a:r>
              <a:t>Pick two and tease the rest:</a:t>
            </a:r>
          </a:p>
          <a:p>
            <a:r>
              <a:t>  'RUM ties the customer click to the trace. AlwaysOn Profiling   lands on the line of code. We are going to do the whole walk   on one trace ID - and the same matrix will return at the end   as a bracket.'</a:t>
            </a:r>
          </a:p>
          <a:p>
            <a:endParaRPr/>
          </a:p>
          <a:p>
            <a:r>
              <a:t>Move quickly - the table is here to anchor the audience, not to be read aloud.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Segue slide. Two seconds.</a:t>
            </a:r>
          </a:p>
          <a:p>
            <a:endParaRPr/>
          </a:p>
          <a:p>
            <a:r>
              <a:t>'One customer click. One trace ID. Six minutes. No copy-paste.'</a:t>
            </a:r>
          </a:p>
          <a:p>
            <a:endParaRPr/>
          </a:p>
          <a:p>
            <a:r>
              <a:t>Switch the browser to Splunk Observability Cloud, scoped to environment=demo, with the SPA visible in tab 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don't tell. Run the SPA action live before clicking off this slide.</a:t>
            </a:r>
          </a:p>
          <a:p>
            <a:endParaRPr/>
          </a:p>
          <a:p>
            <a:r>
              <a:t>Beat:</a:t>
            </a:r>
          </a:p>
          <a:p>
            <a:r>
              <a:t>  - Click Send payment in the SPA.</a:t>
            </a:r>
          </a:p>
          <a:p>
            <a:r>
              <a:t>  - Switch to RUM → Sessions.</a:t>
            </a:r>
          </a:p>
          <a:p>
            <a:r>
              <a:t>  - Open the session you just made (newest at the top).</a:t>
            </a:r>
          </a:p>
          <a:p>
            <a:r>
              <a:t>  - Hover the page-action span; show the traceparent attribute.</a:t>
            </a:r>
          </a:p>
          <a:p>
            <a:r>
              <a:t>  - Click 'APM trace' from the RUM span context menu.</a:t>
            </a:r>
          </a:p>
          <a:p>
            <a:endParaRPr/>
          </a:p>
          <a:p>
            <a:r>
              <a:t>Close out:</a:t>
            </a:r>
          </a:p>
          <a:p>
            <a:r>
              <a:t>  'Forty-seven seconds ago this customer pressed Send. They felt   a 1.4-second wait. We never asked them anything - the SDK   handed us the trace.'</a:t>
            </a:r>
          </a:p>
          <a:p>
            <a:endParaRPr/>
          </a:p>
          <a:p>
            <a:r>
              <a:t>Hold the Ask Beat for a count of three.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the click-through live.</a:t>
            </a:r>
          </a:p>
          <a:p>
            <a:endParaRPr/>
          </a:p>
          <a:p>
            <a:r>
              <a:t>Beat:</a:t>
            </a:r>
          </a:p>
          <a:p>
            <a:r>
              <a:t>  - Walk down the trace tree slowly enough for the audience to     read the service names.</a:t>
            </a:r>
          </a:p>
          <a:p>
            <a:r>
              <a:t>  - Stop on fraud-detection-service. Surface the compute_fraud_features     span and its attributes.</a:t>
            </a:r>
          </a:p>
          <a:p>
            <a:r>
              <a:t>  - The point: fraud.algo / fraud.feature_count are business     dimensions a payments engineer would have queried in a     separate APM tool. Here they live next to the latency.</a:t>
            </a:r>
          </a:p>
          <a:p>
            <a:r>
              <a:t>  - Optional side-quest into ledger-service so DB Query Performance     is teased early.</a:t>
            </a:r>
          </a:p>
          <a:p>
            <a:endParaRPr/>
          </a:p>
          <a:p>
            <a:r>
              <a:t>Close out:</a:t>
            </a:r>
          </a:p>
          <a:p>
            <a:r>
              <a:t>  'Slow is fraud-detection. Hypothesis live. Now I want the log   line this code wrote, on this pod, on this trace.'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architectural moment of the demo.</a:t>
            </a:r>
          </a:p>
          <a:p>
            <a:endParaRPr/>
          </a:p>
          <a:p>
            <a:r>
              <a:t>Beat:</a:t>
            </a:r>
          </a:p>
          <a:p>
            <a:r>
              <a:t>  - On the same APM span, click 'Logs for this trace'.</a:t>
            </a:r>
          </a:p>
          <a:p>
            <a:r>
              <a:t>  - One JSON record returns. Read out the trace_id (matches the     APM span) and the customer-level fields.</a:t>
            </a:r>
          </a:p>
          <a:p>
            <a:endParaRPr/>
          </a:p>
          <a:p>
            <a:r>
              <a:t>Key talking point - the bridge:</a:t>
            </a:r>
          </a:p>
          <a:p>
            <a:r>
              <a:t>  'Your existing Splunk Enterprise becomes the log surface for   Observability Cloud. Same governance, same retention, same   indexers. The trace ID survives the seam.'</a:t>
            </a:r>
          </a:p>
          <a:p>
            <a:endParaRPr/>
          </a:p>
          <a:p>
            <a:r>
              <a:t>If the audience is Splunk-incumbent, dwell here. This is the no-log-re-platform message and it matters.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AlwaysOn Profiling is the credibility moment.</a:t>
            </a:r>
          </a:p>
          <a:p>
            <a:endParaRPr/>
          </a:p>
          <a:p>
            <a:r>
              <a:t>Beat:</a:t>
            </a:r>
          </a:p>
          <a:p>
            <a:r>
              <a:t>  - Open the CPU flame graph on the fraud-detection service.</a:t>
            </a:r>
          </a:p>
          <a:p>
            <a:r>
              <a:t>  - Switch to 'Diff vs. baseline'.</a:t>
            </a:r>
          </a:p>
          <a:p>
            <a:r>
              <a:t>  - The new tower at the top is _extract_features_pairwise.</a:t>
            </a:r>
          </a:p>
          <a:p>
            <a:endParaRPr/>
          </a:p>
          <a:p>
            <a:r>
              <a:t>Talking point that lands:</a:t>
            </a:r>
          </a:p>
          <a:p>
            <a:r>
              <a:t>  'Profiling diff is what makes a slow trace actionable. Not   fraud-detection regressed - but which line of which file '</a:t>
            </a:r>
          </a:p>
          <a:p>
            <a:r>
              <a:t>  'regressed it.'</a:t>
            </a:r>
          </a:p>
          <a:p>
            <a:endParaRPr/>
          </a:p>
          <a:p>
            <a:r>
              <a:t>If asked about overhead: the cluster you are looking at runs profiling on every JVM and Python process at ~1% CPU, right now, in this room.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Act I deliberately.</a:t>
            </a:r>
          </a:p>
          <a:p>
            <a:endParaRPr/>
          </a:p>
          <a:p>
            <a:r>
              <a:t>Beat:</a:t>
            </a:r>
          </a:p>
          <a:p>
            <a:r>
              <a:t>  - Run the recover command (or click Clear in the SPA Ops tab).</a:t>
            </a:r>
          </a:p>
          <a:p>
            <a:r>
              <a:t>  - Watch the p99 panel in the corner of the screen settle.</a:t>
            </a:r>
          </a:p>
          <a:p>
            <a:r>
              <a:t>  - Refresh the SPA and submit one more payment; it returns fast.</a:t>
            </a:r>
          </a:p>
          <a:p>
            <a:endParaRPr/>
          </a:p>
          <a:p>
            <a:r>
              <a:t>Bracket - DON'T skip this:</a:t>
            </a:r>
          </a:p>
          <a:p>
            <a:r>
              <a:t>  'RUM, APM, log, profile - in six minutes, on one page. Same   data plane, same dimensions, same trace ID. That is what a   NatWest engineer's Tuesday afternoon should look like.'</a:t>
            </a:r>
          </a:p>
          <a:p>
            <a:endParaRPr/>
          </a:p>
          <a:p>
            <a:r>
              <a:t>PAUSE. The first real question from the audience usually lands here. Absorb 2-3 minutes of discussion before moving 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Segue slide. Two seconds.</a:t>
            </a:r>
          </a:p>
          <a:p>
            <a:endParaRPr/>
          </a:p>
          <a:p>
            <a:r>
              <a:t>'You have just watched one investigation. Let me show you what else this surface does without changing tools.'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service map and let it render for one beat before talking. The graph alone earns a reaction.</a:t>
            </a:r>
          </a:p>
          <a:p>
            <a:endParaRPr/>
          </a:p>
          <a:p>
            <a:r>
              <a:t>Three things to call out, in order:</a:t>
            </a:r>
          </a:p>
          <a:p>
            <a:r>
              <a:t>  1. The shape of the mesh is the payments topology you signed      off in the architecture diagram. Nothing in this map was      drawn by hand.</a:t>
            </a:r>
          </a:p>
          <a:p>
            <a:r>
              <a:t>  2. The infra nodes (Postgres, Redis, Kafka) are INFERRED from      OTel client spans. No agents on the data plane.</a:t>
            </a:r>
          </a:p>
          <a:p>
            <a:r>
              <a:t>  3. The dotted edge between payment-initiation and settlement      is the Kafka producer/consumer relationship. APM stitches      asynchronous flows the same way as synchronous ones.</a:t>
            </a:r>
          </a:p>
          <a:p>
            <a:endParaRPr/>
          </a:p>
          <a:p>
            <a:r>
              <a:t>Ask Beat: 'When was the last time you saw your payments topology this clearly, with the data plane in the same picture?'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 deck's NEW European story starts feeding the Act II flow.</a:t>
            </a:r>
          </a:p>
          <a:p>
            <a:endParaRPr/>
          </a:p>
          <a:p>
            <a:r>
              <a:t>Demo flow:</a:t>
            </a:r>
          </a:p>
          <a:p>
            <a:r>
              <a:t>  1. APM → Tag Spotlight on api-gateway, last hour.</a:t>
            </a:r>
          </a:p>
          <a:p>
            <a:r>
              <a:t>  2. Pivot by payment.scheme - SWIFT wins on p99.</a:t>
            </a:r>
          </a:p>
          <a:p>
            <a:r>
              <a:t>  3. Pivot by customer.tier - Bronze / Silver / Gold cohorts.</a:t>
            </a:r>
          </a:p>
          <a:p>
            <a:r>
              <a:t>  4. Pivot by customer.location - Madrid sits visibly above the      other cities even at baseline.</a:t>
            </a:r>
          </a:p>
          <a:p>
            <a:r>
              <a:t>  5. Optional: pivot by payment.roaming = true to surface the      ~5% cross-border tail. Useful if the audience is fraud /      PSD2 focused.</a:t>
            </a:r>
          </a:p>
          <a:p>
            <a:endParaRPr/>
          </a:p>
          <a:p>
            <a:r>
              <a:t>Talking point:</a:t>
            </a:r>
          </a:p>
          <a:p>
            <a:r>
              <a:t>  'Every span carries business context. "Which scheme is hurting   which tier right now" is a pivot, not a JIRA ticket to the   data team. And the same dimension is on the RUM page-load   span, the API span, the database span, all the way through.'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alarms beat. Don't try to demo every detector - pick two.</a:t>
            </a:r>
          </a:p>
          <a:p>
            <a:endParaRPr/>
          </a:p>
          <a:p>
            <a:r>
              <a:t>Recommended pair:</a:t>
            </a:r>
          </a:p>
          <a:p>
            <a:r>
              <a:t>  - swift-counterparty-flap (fast and visual; fires within     30 seconds; covers the SWIFT error-rate detector + the     o11y-to-ITSI alert bridge).</a:t>
            </a:r>
          </a:p>
          <a:p>
            <a:r>
              <a:t>  - madrid-network-degradation (sets up the European reach     section that follows). Pre-arm it if you want the audience     to see the detector already red.</a:t>
            </a:r>
          </a:p>
          <a:p>
            <a:endParaRPr/>
          </a:p>
          <a:p>
            <a:r>
              <a:t>Closing line:</a:t>
            </a:r>
          </a:p>
          <a:p>
            <a:r>
              <a:t>  'Detectors don't replace your eyes - they buy them back. The   team sleeps; the platform watches.'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ITSI is where the L1 / L2 audience (CIO, VP Payments) sees the data plane expressed as a service tree.</a:t>
            </a:r>
          </a:p>
          <a:p>
            <a:endParaRPr/>
          </a:p>
          <a:p>
            <a:r>
              <a:t>Demo flow:</a:t>
            </a:r>
          </a:p>
          <a:p>
            <a:r>
              <a:t>  - Open the natwest-payments-overview glass table.</a:t>
            </a:r>
          </a:p>
          <a:p>
            <a:r>
              <a:t>  - Walk top-to-bottom: the four headline business outcomes at     the top, the per-city Payments by City row in the middle,     the chaos / notable-events strip below.</a:t>
            </a:r>
          </a:p>
          <a:p>
            <a:r>
              <a:t>  - From the Madrid panel, click into Episode Review and show     the open Episode (correlated from the o11y detector + the     payments_madrid_latency_breach correlation search).</a:t>
            </a:r>
          </a:p>
          <a:p>
            <a:endParaRPr/>
          </a:p>
          <a:p>
            <a:r>
              <a:t>Talking point:</a:t>
            </a:r>
          </a:p>
          <a:p>
            <a:r>
              <a:t>  'Splunk Observability tells the SRE *which service*. ITSI   rolls that up to *which business outcome* - same trace,   different audience.'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NEW European narrative. Three minutes if the audience is geographic / payment-scheme heavy; one minute otherwise.</a:t>
            </a:r>
          </a:p>
          <a:p>
            <a:endParaRPr/>
          </a:p>
          <a:p>
            <a:r>
              <a:t>Beat:</a:t>
            </a:r>
          </a:p>
          <a:p>
            <a:r>
              <a:t>  1. Open the Tag Spotlight pivot on customer.location. Madrid      stands proud above the rest at baseline.</a:t>
            </a:r>
          </a:p>
          <a:p>
            <a:r>
              <a:t>  2. Mention realism beats - weekend curve, bank holidays -      verbally, do not click through unless asked.</a:t>
            </a:r>
          </a:p>
          <a:p>
            <a:r>
              <a:t>  3. Hover the payment.roaming attribute in a trace and explain      the ~5% cross-border baseline. Tease the fraud-incident      story (ROAMING_RATE chaos lever).</a:t>
            </a:r>
          </a:p>
          <a:p>
            <a:endParaRPr/>
          </a:p>
          <a:p>
            <a:r>
              <a:t>Optional aside if asked:</a:t>
            </a:r>
          </a:p>
          <a:p>
            <a:r>
              <a:t>  - The exact city pool, weekend curve, bank-holiday list and     roaming rate are tuned in traffic-generator/deployment.yaml     and mirrored under trafficGenerator in helm values.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Act II beat - run it only if Act II.C went well and you have time. Otherwise mention the controller verbally and move on.</a:t>
            </a:r>
          </a:p>
          <a:p>
            <a:endParaRPr/>
          </a:p>
          <a:p>
            <a:r>
              <a:t>If running:</a:t>
            </a:r>
          </a:p>
          <a:p>
            <a:r>
              <a:t>  - Open the SPA Ops tab (web-frontend / ops).</a:t>
            </a:r>
          </a:p>
          <a:p>
            <a:r>
              <a:t>  - Browse the catalogue. Point out the four categories.</a:t>
            </a:r>
          </a:p>
          <a:p>
            <a:r>
              <a:t>  - Inject madrid-network-degradation. Switch back to the     Tag Spotlight pivot or the ITSI Payments by City glass     table; Madrid is now red.</a:t>
            </a:r>
          </a:p>
          <a:p>
            <a:r>
              <a:t>  - Clear. Settle.</a:t>
            </a:r>
          </a:p>
          <a:p>
            <a:endParaRPr/>
          </a:p>
          <a:p>
            <a:r>
              <a:t>Two security beats worth mentioning if asked:</a:t>
            </a:r>
          </a:p>
          <a:p>
            <a:r>
              <a:t>  - Presenter token, never in localStorage / sessionStorage.</a:t>
            </a:r>
          </a:p>
          <a:p>
            <a:r>
              <a:t>  - Role-scoped to the natwest namespace; no cluster-scoped     verbs, no secrets, no exec.</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closing argument. Pause for two beats.</a:t>
            </a:r>
          </a:p>
          <a:p>
            <a:endParaRPr/>
          </a:p>
          <a:p>
            <a:r>
              <a:t>'The investigation you watched in the first six minutes - that is what good looks like, every day. Not the heroic war room. The Tuesday afternoon.'</a:t>
            </a:r>
          </a:p>
          <a:p>
            <a:endParaRPr/>
          </a:p>
          <a:p>
            <a:r>
              <a:t>If you have time for one more line:</a:t>
            </a:r>
          </a:p>
          <a:p>
            <a:r>
              <a:t>  'We did not move your log estate. We did not change your   language stack. We turned on OTel, and the platform did the   rest.'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pre-emptively read the objections. Use this slide as a safety net when one comes from the floor.</a:t>
            </a:r>
          </a:p>
          <a:p>
            <a:endParaRPr/>
          </a:p>
          <a:p>
            <a:r>
              <a:t>If asked about cost / per-span / per-host pricing: refuse politely. 'Happy to walk through that with your AE on a separate motion. The architecture choice doesn't change with the licensing model - what you saw today is the technical capability, decoupled.'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ask. Land it explicitly.</a:t>
            </a:r>
          </a:p>
          <a:p>
            <a:endParaRPr/>
          </a:p>
          <a:p>
            <a:r>
              <a:t>'I want to spend sixty minutes against your real services, with your SRE lead and your payments-ops lead in the room. We bring the collector config; you bring two services. By the end of the hour, they are on the service map.'</a:t>
            </a:r>
          </a:p>
          <a:p>
            <a:endParaRPr/>
          </a:p>
          <a:p>
            <a:r>
              <a:t>Wait for the next move. Do not pitch beyond this slide.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Hand-off slide. Use it as the 'paste this in your champion email' moment. If asked, the full brief is in docs/presentation/TALK_TRACK.md (Champion brief section).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slide. Recovery script, repo, contact details all live in docs/presentation/TALK_TRACK.md (Access details section).</a:t>
            </a:r>
          </a:p>
          <a:p>
            <a:endParaRPr/>
          </a:p>
          <a:p>
            <a:r>
              <a:t>If the demo wobbled mid-flight:</a:t>
            </a:r>
          </a:p>
          <a:p>
            <a:r>
              <a:t>  scripts/incident.sh recover</a:t>
            </a:r>
          </a:p>
          <a:p>
            <a:r>
              <a:t>  kubectl -n natwest rollout status deploy/fraud-detection-service</a:t>
            </a:r>
          </a:p>
          <a:p>
            <a:r>
              <a:t>  kubectl -n natwest get pods | grep -v Running   # should be empty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999323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85792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a:t>Speaker Name</a:t>
            </a:r>
          </a:p>
          <a:p>
            <a:pPr lvl="0"/>
            <a:r>
              <a:rPr lang="en-US"/>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577979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spTree>
    <p:extLst>
      <p:ext uri="{BB962C8B-B14F-4D97-AF65-F5344CB8AC3E}">
        <p14:creationId xmlns:p14="http://schemas.microsoft.com/office/powerpoint/2010/main" val="349076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spTree>
    <p:extLst>
      <p:ext uri="{BB962C8B-B14F-4D97-AF65-F5344CB8AC3E}">
        <p14:creationId xmlns:p14="http://schemas.microsoft.com/office/powerpoint/2010/main" val="418293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spTree>
    <p:extLst>
      <p:ext uri="{BB962C8B-B14F-4D97-AF65-F5344CB8AC3E}">
        <p14:creationId xmlns:p14="http://schemas.microsoft.com/office/powerpoint/2010/main" val="24493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spTree>
    <p:extLst>
      <p:ext uri="{BB962C8B-B14F-4D97-AF65-F5344CB8AC3E}">
        <p14:creationId xmlns:p14="http://schemas.microsoft.com/office/powerpoint/2010/main" val="272703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a:t>Speaker Name</a:t>
            </a:r>
          </a:p>
          <a:p>
            <a:pPr lvl="0"/>
            <a:r>
              <a:rPr lang="en-US"/>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a:t>Speaker Name</a:t>
            </a:r>
          </a:p>
          <a:p>
            <a:pPr lvl="0"/>
            <a:r>
              <a:rPr lang="en-US"/>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a:t>Date</a:t>
            </a:r>
          </a:p>
        </p:txBody>
      </p:sp>
    </p:spTree>
    <p:extLst>
      <p:ext uri="{BB962C8B-B14F-4D97-AF65-F5344CB8AC3E}">
        <p14:creationId xmlns:p14="http://schemas.microsoft.com/office/powerpoint/2010/main" val="282202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a:p>
        </p:txBody>
      </p:sp>
      <p:sp>
        <p:nvSpPr>
          <p:cNvPr id="6" name="TextBox 5">
            <a:extLst>
              <a:ext uri="{FF2B5EF4-FFF2-40B4-BE49-F238E27FC236}">
                <a16:creationId xmlns:a16="http://schemas.microsoft.com/office/drawing/2014/main" id="{0341B2C2-F1AC-43FD-319F-5E15E46CDB39}"/>
              </a:ext>
            </a:extLst>
          </p:cNvPr>
          <p:cNvSpPr txBox="1"/>
          <p:nvPr userDrawn="1"/>
        </p:nvSpPr>
        <p:spPr>
          <a:xfrm>
            <a:off x="1066800" y="6522720"/>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err="1">
              <a:solidFill>
                <a:schemeClr val="bg1"/>
              </a:solidFill>
              <a:latin typeface="+mn-lt"/>
              <a:ea typeface="ＭＳ Ｐゴシック" charset="0"/>
            </a:endParaRPr>
          </a:p>
        </p:txBody>
      </p:sp>
    </p:spTree>
    <p:extLst>
      <p:ext uri="{BB962C8B-B14F-4D97-AF65-F5344CB8AC3E}">
        <p14:creationId xmlns:p14="http://schemas.microsoft.com/office/powerpoint/2010/main" val="224476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928740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1400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76935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76274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GB"/>
              <a:t>Click to edit Master title style</a:t>
            </a:r>
            <a:endParaRPr lang="en-US"/>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368187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70109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71303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41070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2039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a:t>Section title</a:t>
            </a:r>
          </a:p>
        </p:txBody>
      </p:sp>
    </p:spTree>
    <p:extLst>
      <p:ext uri="{BB962C8B-B14F-4D97-AF65-F5344CB8AC3E}">
        <p14:creationId xmlns:p14="http://schemas.microsoft.com/office/powerpoint/2010/main" val="759459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98207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00693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8482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25146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8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7820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GB"/>
              <a:t>Click to edit Master title style</a:t>
            </a:r>
            <a:endParaRPr lang="en-US"/>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169584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GB"/>
              <a:t>Click to edit Master title style</a:t>
            </a:r>
            <a:endParaRPr lang="en-US"/>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00925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GB"/>
              <a:t>Click to edit Master title style</a:t>
            </a:r>
            <a:endParaRPr lang="en-US"/>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88004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GB"/>
              <a:t>Click to edit Master title style</a:t>
            </a:r>
            <a:endParaRPr lang="en-US"/>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821666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353146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GB"/>
              <a:t>Click to edit Master title style</a:t>
            </a:r>
            <a:endParaRPr lang="en-US"/>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a:t>To add your image, </a:t>
            </a:r>
            <a:br>
              <a:rPr lang="en-US"/>
            </a:br>
            <a:r>
              <a:rPr lang="en-US"/>
              <a:t>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024239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GB"/>
              <a:t>Click to edit Master title style</a:t>
            </a:r>
            <a:endParaRPr lang="en-US"/>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a:t>To add your image, drag and drop it here </a:t>
            </a:r>
            <a:br>
              <a:rPr lang="en-US"/>
            </a:br>
            <a:r>
              <a:rPr lang="en-US"/>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136926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744560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GB"/>
              <a:t>Click to edit Master title style</a:t>
            </a:r>
            <a:endParaRPr lang="en-US"/>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a:t>To add your image, drag and drop it here </a:t>
            </a:r>
            <a:br>
              <a:rPr lang="en-US"/>
            </a:br>
            <a:r>
              <a:rPr lang="en-US"/>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841142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GB"/>
              <a:t>Click to edit Master title style</a:t>
            </a:r>
            <a:endParaRPr lang="en-US"/>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65035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125243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a:t>To add your image, drag and drop it here </a:t>
            </a:r>
            <a:br>
              <a:rPr lang="en-US"/>
            </a:br>
            <a:r>
              <a:rPr lang="en-US"/>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50675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16525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a:t>To add your image, drag and drop it here </a:t>
            </a:r>
            <a:br>
              <a:rPr lang="en-US"/>
            </a:br>
            <a:r>
              <a:rPr lang="en-US"/>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286049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 dolore</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a:t>Speaker Name</a:t>
            </a:r>
          </a:p>
          <a:p>
            <a:pPr lvl="0"/>
            <a:r>
              <a:rPr lang="en-US"/>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6229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accent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a:t>Quote slide 1, </a:t>
            </a:r>
            <a:r>
              <a:rPr lang="en-GB"/>
              <a:t>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a:t>
            </a:r>
            <a:r>
              <a:rPr lang="en-GB" err="1"/>
              <a:t>sed</a:t>
            </a:r>
            <a:r>
              <a:rPr lang="en-GB"/>
              <a:t> </a:t>
            </a:r>
            <a:r>
              <a:rPr lang="en-GB" err="1"/>
              <a:t>diam</a:t>
            </a:r>
            <a:r>
              <a:rPr lang="en-GB"/>
              <a:t> </a:t>
            </a:r>
            <a:r>
              <a:rPr lang="en-GB" err="1"/>
              <a:t>nonummy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 dolore</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a:t>Speaker Name</a:t>
            </a:r>
          </a:p>
          <a:p>
            <a:pPr lvl="0"/>
            <a:r>
              <a:rPr lang="en-US"/>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247777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a:t>“Quote slide 1, </a:t>
            </a:r>
            <a:r>
              <a:rPr lang="en-GB"/>
              <a:t>Lorem ipsum </a:t>
            </a:r>
            <a:r>
              <a:rPr lang="en-GB" err="1"/>
              <a:t>dolor</a:t>
            </a:r>
            <a:r>
              <a:rPr lang="en-GB"/>
              <a:t> sit </a:t>
            </a:r>
            <a:r>
              <a:rPr lang="en-GB" err="1"/>
              <a:t>amet</a:t>
            </a:r>
            <a:r>
              <a:rPr lang="en-GB"/>
              <a:t>, </a:t>
            </a:r>
            <a:r>
              <a:rPr lang="en-GB" err="1"/>
              <a:t>consect</a:t>
            </a:r>
            <a:r>
              <a:rPr lang="en-GB"/>
              <a:t> </a:t>
            </a:r>
            <a:r>
              <a:rPr lang="en-GB" err="1"/>
              <a:t>adipiscing</a:t>
            </a:r>
            <a:r>
              <a:rPr lang="en-GB"/>
              <a:t> </a:t>
            </a:r>
            <a:r>
              <a:rPr lang="en-GB" err="1"/>
              <a:t>elit</a:t>
            </a:r>
            <a:r>
              <a:rPr lang="en-GB"/>
              <a:t>, </a:t>
            </a:r>
            <a:r>
              <a:rPr lang="en-GB" err="1"/>
              <a:t>sed</a:t>
            </a:r>
            <a:r>
              <a:rPr lang="en-GB"/>
              <a:t> </a:t>
            </a:r>
            <a:r>
              <a:rPr lang="en-GB" err="1"/>
              <a:t>diam</a:t>
            </a:r>
            <a:r>
              <a:rPr lang="en-GB"/>
              <a:t> no </a:t>
            </a:r>
            <a:r>
              <a:rPr lang="en-GB" err="1"/>
              <a:t>nummy</a:t>
            </a:r>
            <a:r>
              <a:rPr lang="en-GB"/>
              <a:t> </a:t>
            </a:r>
            <a:r>
              <a:rPr lang="en-GB" err="1"/>
              <a:t>nibh</a:t>
            </a:r>
            <a:r>
              <a:rPr lang="en-GB"/>
              <a:t> </a:t>
            </a:r>
            <a:r>
              <a:rPr lang="en-GB" err="1"/>
              <a:t>euismod</a:t>
            </a:r>
            <a:r>
              <a:rPr lang="en-GB"/>
              <a:t> </a:t>
            </a:r>
            <a:r>
              <a:rPr lang="en-GB" err="1"/>
              <a:t>tincidunt</a:t>
            </a:r>
            <a:r>
              <a:rPr lang="en-GB"/>
              <a:t> </a:t>
            </a:r>
            <a:r>
              <a:rPr lang="en-GB" err="1"/>
              <a:t>ut</a:t>
            </a:r>
            <a:r>
              <a:rPr lang="en-GB"/>
              <a:t> </a:t>
            </a:r>
            <a:r>
              <a:rPr lang="en-GB" err="1"/>
              <a:t>laoreet</a:t>
            </a:r>
            <a:r>
              <a:rPr lang="en-GB"/>
              <a:t>”</a:t>
            </a:r>
            <a:endParaRPr lang="en-US"/>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a:t>Speaker Name</a:t>
            </a:r>
          </a:p>
          <a:p>
            <a:pPr lvl="0"/>
            <a:r>
              <a:rPr lang="en-US"/>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40138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427294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p>
        </p:txBody>
      </p:sp>
    </p:spTree>
    <p:extLst>
      <p:ext uri="{BB962C8B-B14F-4D97-AF65-F5344CB8AC3E}">
        <p14:creationId xmlns:p14="http://schemas.microsoft.com/office/powerpoint/2010/main" val="231179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91353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185471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GB"/>
              <a:t>Click to edit Master title style</a:t>
            </a:r>
            <a:endParaRPr lang="en-US"/>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61161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368431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GB"/>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a:p>
        </p:txBody>
      </p:sp>
    </p:spTree>
    <p:extLst>
      <p:ext uri="{BB962C8B-B14F-4D97-AF65-F5344CB8AC3E}">
        <p14:creationId xmlns:p14="http://schemas.microsoft.com/office/powerpoint/2010/main" val="419249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2694528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GB"/>
              <a:t>Click to edit Master title style</a:t>
            </a:r>
            <a:endParaRPr lang="en-US"/>
          </a:p>
        </p:txBody>
      </p:sp>
    </p:spTree>
    <p:extLst>
      <p:ext uri="{BB962C8B-B14F-4D97-AF65-F5344CB8AC3E}">
        <p14:creationId xmlns:p14="http://schemas.microsoft.com/office/powerpoint/2010/main" val="175310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1443240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383068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44480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a:t>Thank you</a:t>
            </a:r>
          </a:p>
        </p:txBody>
      </p:sp>
    </p:spTree>
    <p:extLst>
      <p:ext uri="{BB962C8B-B14F-4D97-AF65-F5344CB8AC3E}">
        <p14:creationId xmlns:p14="http://schemas.microsoft.com/office/powerpoint/2010/main" val="10177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userDrawn="1"/>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7182D"/>
                </a:solidFill>
                <a:effectLst/>
                <a:uLnTx/>
                <a:uFillTx/>
                <a:latin typeface="CiscoSansTT Medium" panose="020B0503020201020303" pitchFamily="34" charset="0"/>
                <a:ea typeface="ＭＳ Ｐゴシック" charset="0"/>
              </a:endParaRPr>
            </a:p>
          </p:txBody>
        </p:sp>
      </p:grpSp>
    </p:spTree>
    <p:extLst>
      <p:ext uri="{BB962C8B-B14F-4D97-AF65-F5344CB8AC3E}">
        <p14:creationId xmlns:p14="http://schemas.microsoft.com/office/powerpoint/2010/main" val="346385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GB"/>
              <a:t>Click to edit Master title style</a:t>
            </a:r>
            <a:endParaRPr lang="en-US"/>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Rectangle 4">
            <a:extLst>
              <a:ext uri="{FF2B5EF4-FFF2-40B4-BE49-F238E27FC236}">
                <a16:creationId xmlns:a16="http://schemas.microsoft.com/office/drawing/2014/main" id="{239B4362-70A2-3ADC-C4AA-ADA6E4E09C94}"/>
              </a:ext>
            </a:extLst>
          </p:cNvPr>
          <p:cNvSpPr>
            <a:spLocks/>
          </p:cNvSpPr>
          <p:nvPr userDrawn="1"/>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ＭＳ Ｐゴシック"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pPr defTabSz="814318">
              <a:defRPr/>
            </a:pPr>
            <a:r>
              <a:rPr lang="en-US"/>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Light" panose="020B0503020201020303" pitchFamily="34" charset="0"/>
              </a:defRPr>
            </a:lvl1pPr>
          </a:lstStyle>
          <a:p>
            <a:fld id="{C3C42FAE-7A31-41D3-A712-51D9B15D0B10}" type="slidenum">
              <a:rPr lang="en-US" smtClean="0"/>
              <a:pPr/>
              <a:t>‹#›</a:t>
            </a:fld>
            <a:endParaRPr lang="en-US"/>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981059797"/>
      </p:ext>
    </p:extLst>
  </p:cSld>
  <p:clrMap bg1="dk1" tx1="lt1" bg2="dk2" tx2="lt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67" r:id="rId20"/>
    <p:sldLayoutId id="2147483868" r:id="rId21"/>
    <p:sldLayoutId id="2147483832" r:id="rId22"/>
    <p:sldLayoutId id="2147483833" r:id="rId23"/>
    <p:sldLayoutId id="2147483834" r:id="rId24"/>
    <p:sldLayoutId id="2147483835" r:id="rId25"/>
    <p:sldLayoutId id="2147483836" r:id="rId26"/>
    <p:sldLayoutId id="2147483837" r:id="rId27"/>
    <p:sldLayoutId id="2147483838" r:id="rId28"/>
    <p:sldLayoutId id="2147483839" r:id="rId29"/>
    <p:sldLayoutId id="2147483840" r:id="rId30"/>
    <p:sldLayoutId id="2147483841" r:id="rId31"/>
    <p:sldLayoutId id="2147483842" r:id="rId32"/>
    <p:sldLayoutId id="2147483843" r:id="rId33"/>
    <p:sldLayoutId id="2147483844" r:id="rId34"/>
    <p:sldLayoutId id="2147483845" r:id="rId35"/>
    <p:sldLayoutId id="2147483846" r:id="rId36"/>
    <p:sldLayoutId id="2147483847" r:id="rId37"/>
    <p:sldLayoutId id="2147483848" r:id="rId38"/>
    <p:sldLayoutId id="2147483849" r:id="rId39"/>
    <p:sldLayoutId id="2147483850" r:id="rId40"/>
    <p:sldLayoutId id="2147483851" r:id="rId41"/>
    <p:sldLayoutId id="2147483852" r:id="rId42"/>
    <p:sldLayoutId id="2147483853" r:id="rId43"/>
    <p:sldLayoutId id="2147483854" r:id="rId44"/>
    <p:sldLayoutId id="2147483855" r:id="rId45"/>
    <p:sldLayoutId id="2147483856" r:id="rId46"/>
    <p:sldLayoutId id="2147483857" r:id="rId47"/>
    <p:sldLayoutId id="2147483858" r:id="rId48"/>
    <p:sldLayoutId id="2147483859" r:id="rId49"/>
    <p:sldLayoutId id="2147483860" r:id="rId50"/>
    <p:sldLayoutId id="2147483861" r:id="rId51"/>
    <p:sldLayoutId id="2147483862" r:id="rId52"/>
    <p:sldLayoutId id="2147483863" r:id="rId53"/>
    <p:sldLayoutId id="2147483864" r:id="rId54"/>
    <p:sldLayoutId id="2147483865" r:id="rId55"/>
    <p:sldLayoutId id="2147483866"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userDrawn="1">
          <p15:clr>
            <a:srgbClr val="F26B43"/>
          </p15:clr>
        </p15:guide>
        <p15:guide id="3" pos="7476" userDrawn="1">
          <p15:clr>
            <a:srgbClr val="F26B43"/>
          </p15:clr>
        </p15:guide>
        <p15:guide id="6" pos="3840" userDrawn="1">
          <p15:clr>
            <a:srgbClr val="F26B43"/>
          </p15:clr>
        </p15:guide>
        <p15:guide id="9" orient="horz" pos="3827" userDrawn="1">
          <p15:clr>
            <a:srgbClr val="9FCC3B"/>
          </p15:clr>
        </p15:guide>
        <p15:guide id="10" orient="horz" pos="202" userDrawn="1">
          <p15:clr>
            <a:srgbClr val="F26B43"/>
          </p15:clr>
        </p15:guide>
        <p15:guide id="11" orient="horz" pos="2160">
          <p15:clr>
            <a:srgbClr val="F26B43"/>
          </p15:clr>
        </p15:guide>
        <p15:guide id="12" orient="horz" pos="392" userDrawn="1">
          <p15:clr>
            <a:srgbClr val="A4A3A4"/>
          </p15:clr>
        </p15:guide>
        <p15:guide id="13" orient="horz" pos="2552" userDrawn="1">
          <p15:clr>
            <a:srgbClr val="A4A3A4"/>
          </p15:clr>
        </p15:guide>
        <p15:guide id="14" orient="horz" pos="600" userDrawn="1">
          <p15:clr>
            <a:srgbClr val="A4A3A4"/>
          </p15:clr>
        </p15:guide>
        <p15:guide id="15" orient="horz" pos="1766" userDrawn="1">
          <p15:clr>
            <a:srgbClr val="A4A3A4"/>
          </p15:clr>
        </p15:guide>
        <p15:guide id="16" orient="horz" pos="2355" userDrawn="1">
          <p15:clr>
            <a:srgbClr val="A4A3A4"/>
          </p15:clr>
        </p15:guide>
        <p15:guide id="18" orient="horz" pos="4118" userDrawn="1">
          <p15:clr>
            <a:srgbClr val="F26B43"/>
          </p15:clr>
        </p15:guide>
        <p15:guide id="19" orient="horz" pos="1178" userDrawn="1">
          <p15:clr>
            <a:srgbClr val="A4A3A4"/>
          </p15:clr>
        </p15:guide>
        <p15:guide id="20" orient="horz" pos="1374" userDrawn="1">
          <p15:clr>
            <a:srgbClr val="A4A3A4"/>
          </p15:clr>
        </p15:guide>
        <p15:guide id="21" orient="horz" pos="1570" userDrawn="1">
          <p15:clr>
            <a:srgbClr val="A4A3A4"/>
          </p15:clr>
        </p15:guide>
        <p15:guide id="22" pos="703" userDrawn="1">
          <p15:clr>
            <a:srgbClr val="A4A3A4"/>
          </p15:clr>
        </p15:guide>
        <p15:guide id="23" pos="820" userDrawn="1">
          <p15:clr>
            <a:srgbClr val="A4A3A4"/>
          </p15:clr>
        </p15:guide>
        <p15:guide id="24" pos="1321" userDrawn="1">
          <p15:clr>
            <a:srgbClr val="A4A3A4"/>
          </p15:clr>
        </p15:guide>
        <p15:guide id="25" pos="1435" userDrawn="1">
          <p15:clr>
            <a:srgbClr val="A4A3A4"/>
          </p15:clr>
        </p15:guide>
        <p15:guide id="26" pos="1936" userDrawn="1">
          <p15:clr>
            <a:srgbClr val="A4A3A4"/>
          </p15:clr>
        </p15:guide>
        <p15:guide id="27" pos="2051" userDrawn="1">
          <p15:clr>
            <a:srgbClr val="A4A3A4"/>
          </p15:clr>
        </p15:guide>
        <p15:guide id="28" pos="2551" userDrawn="1">
          <p15:clr>
            <a:srgbClr val="A4A3A4"/>
          </p15:clr>
        </p15:guide>
        <p15:guide id="29" pos="2665" userDrawn="1">
          <p15:clr>
            <a:srgbClr val="A4A3A4"/>
          </p15:clr>
        </p15:guide>
        <p15:guide id="30" pos="3167" userDrawn="1">
          <p15:clr>
            <a:srgbClr val="A4A3A4"/>
          </p15:clr>
        </p15:guide>
        <p15:guide id="31" pos="3281" userDrawn="1">
          <p15:clr>
            <a:srgbClr val="A4A3A4"/>
          </p15:clr>
        </p15:guide>
        <p15:guide id="32" pos="3783" userDrawn="1">
          <p15:clr>
            <a:srgbClr val="A4A3A4"/>
          </p15:clr>
        </p15:guide>
        <p15:guide id="33" pos="3896" userDrawn="1">
          <p15:clr>
            <a:srgbClr val="A4A3A4"/>
          </p15:clr>
        </p15:guide>
        <p15:guide id="34" pos="4397" userDrawn="1">
          <p15:clr>
            <a:srgbClr val="A4A3A4"/>
          </p15:clr>
        </p15:guide>
        <p15:guide id="35" pos="4512" userDrawn="1">
          <p15:clr>
            <a:srgbClr val="A4A3A4"/>
          </p15:clr>
        </p15:guide>
        <p15:guide id="36" pos="5013" userDrawn="1">
          <p15:clr>
            <a:srgbClr val="A4A3A4"/>
          </p15:clr>
        </p15:guide>
        <p15:guide id="37" pos="5128" userDrawn="1">
          <p15:clr>
            <a:srgbClr val="A4A3A4"/>
          </p15:clr>
        </p15:guide>
        <p15:guide id="38" pos="5629" userDrawn="1">
          <p15:clr>
            <a:srgbClr val="A4A3A4"/>
          </p15:clr>
        </p15:guide>
        <p15:guide id="39" pos="5742" userDrawn="1">
          <p15:clr>
            <a:srgbClr val="A4A3A4"/>
          </p15:clr>
        </p15:guide>
        <p15:guide id="40" pos="6244" userDrawn="1">
          <p15:clr>
            <a:srgbClr val="A4A3A4"/>
          </p15:clr>
        </p15:guide>
        <p15:guide id="41" pos="6359" userDrawn="1">
          <p15:clr>
            <a:srgbClr val="A4A3A4"/>
          </p15:clr>
        </p15:guide>
        <p15:guide id="42" pos="6859" userDrawn="1">
          <p15:clr>
            <a:srgbClr val="A4A3A4"/>
          </p15:clr>
        </p15:guide>
        <p15:guide id="43" pos="6975" userDrawn="1">
          <p15:clr>
            <a:srgbClr val="A4A3A4"/>
          </p15:clr>
        </p15:guide>
        <p15:guide id="44" orient="horz" pos="784" userDrawn="1">
          <p15:clr>
            <a:srgbClr val="A4A3A4"/>
          </p15:clr>
        </p15:guide>
        <p15:guide id="45" orient="horz" pos="980" userDrawn="1">
          <p15:clr>
            <a:srgbClr val="A4A3A4"/>
          </p15:clr>
        </p15:guide>
        <p15:guide id="46" orient="horz" pos="1962" userDrawn="1">
          <p15:clr>
            <a:srgbClr val="A4A3A4"/>
          </p15:clr>
        </p15:guide>
        <p15:guide id="47" orient="horz" pos="2747" userDrawn="1">
          <p15:clr>
            <a:srgbClr val="A4A3A4"/>
          </p15:clr>
        </p15:guide>
        <p15:guide id="48" orient="horz" pos="2945" userDrawn="1">
          <p15:clr>
            <a:srgbClr val="A4A3A4"/>
          </p15:clr>
        </p15:guide>
        <p15:guide id="49" orient="horz" pos="3141" userDrawn="1">
          <p15:clr>
            <a:srgbClr val="A4A3A4"/>
          </p15:clr>
        </p15:guide>
        <p15:guide id="50" orient="horz" pos="3337" userDrawn="1">
          <p15:clr>
            <a:srgbClr val="A4A3A4"/>
          </p15:clr>
        </p15:guide>
        <p15:guide id="51" orient="horz" pos="3535" userDrawn="1">
          <p15:clr>
            <a:srgbClr val="A4A3A4"/>
          </p15:clr>
        </p15:guide>
        <p15:guide id="52" orient="horz" pos="3730" userDrawn="1">
          <p15:clr>
            <a:srgbClr val="A4A3A4"/>
          </p15:clr>
        </p15:guide>
        <p15:guide id="53" orient="horz" pos="3936" userDrawn="1">
          <p15:clr>
            <a:srgbClr val="A4A3A4"/>
          </p15:clr>
        </p15:guide>
        <p15:guide id="54" orient="horz" pos="187" userDrawn="1">
          <p15:clr>
            <a:srgbClr val="9FCC3B"/>
          </p15:clr>
        </p15:guide>
        <p15:guide id="55" pos="455" userDrawn="1">
          <p15:clr>
            <a:srgbClr val="9FCC3B"/>
          </p15:clr>
        </p15:guide>
        <p15:guide id="56" pos="1069" userDrawn="1">
          <p15:clr>
            <a:srgbClr val="9FCC3B"/>
          </p15:clr>
        </p15:guide>
        <p15:guide id="57" pos="1685" userDrawn="1">
          <p15:clr>
            <a:srgbClr val="9FCC3B"/>
          </p15:clr>
        </p15:guide>
        <p15:guide id="58" pos="2301" userDrawn="1">
          <p15:clr>
            <a:srgbClr val="9FCC3B"/>
          </p15:clr>
        </p15:guide>
        <p15:guide id="59" pos="2915" userDrawn="1">
          <p15:clr>
            <a:srgbClr val="9FCC3B"/>
          </p15:clr>
        </p15:guide>
        <p15:guide id="60" pos="3531" userDrawn="1">
          <p15:clr>
            <a:srgbClr val="9FCC3B"/>
          </p15:clr>
        </p15:guide>
        <p15:guide id="61" pos="4146" userDrawn="1">
          <p15:clr>
            <a:srgbClr val="9FCC3B"/>
          </p15:clr>
        </p15:guide>
        <p15:guide id="62" pos="4762" userDrawn="1">
          <p15:clr>
            <a:srgbClr val="9FCC3B"/>
          </p15:clr>
        </p15:guide>
        <p15:guide id="63" pos="5378" userDrawn="1">
          <p15:clr>
            <a:srgbClr val="9FCC3B"/>
          </p15:clr>
        </p15:guide>
        <p15:guide id="64" pos="5992" userDrawn="1">
          <p15:clr>
            <a:srgbClr val="9FCC3B"/>
          </p15:clr>
        </p15:guide>
        <p15:guide id="65" pos="6609" userDrawn="1">
          <p15:clr>
            <a:srgbClr val="9FCC3B"/>
          </p15:clr>
        </p15:guide>
        <p15:guide id="66" pos="7225"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NatWest Payment Platform</a:t>
            </a:r>
          </a:p>
        </p:txBody>
      </p:sp>
      <p:sp>
        <p:nvSpPr>
          <p:cNvPr id="3" name="Text Placeholder 2"/>
          <p:cNvSpPr>
            <a:spLocks noGrp="1"/>
          </p:cNvSpPr>
          <p:nvPr>
            <p:ph type="body" sz="quarter" idx="13"/>
          </p:nvPr>
        </p:nvSpPr>
        <p:spPr/>
        <p:txBody>
          <a:bodyPr/>
          <a:lstStyle/>
          <a:p>
            <a:r>
              <a:t>Observability without seams - 24 services, 9 cities, one trace ID</a:t>
            </a:r>
          </a:p>
        </p:txBody>
      </p:sp>
      <p:sp>
        <p:nvSpPr>
          <p:cNvPr id="4" name="Text Placeholder 3"/>
          <p:cNvSpPr>
            <a:spLocks noGrp="1"/>
          </p:cNvSpPr>
          <p:nvPr>
            <p:ph type="body" sz="quarter" idx="16"/>
          </p:nvPr>
        </p:nvSpPr>
        <p:spPr/>
        <p:txBody>
          <a:bodyPr/>
          <a:lstStyle/>
          <a:p>
            <a:r>
              <a:t>Solution Engineering  -  Splunk Observability Cloud + ITSI</a:t>
            </a:r>
          </a:p>
        </p:txBody>
      </p:sp>
      <p:sp>
        <p:nvSpPr>
          <p:cNvPr id="5" name="Text Placeholder 4"/>
          <p:cNvSpPr>
            <a:spLocks noGrp="1"/>
          </p:cNvSpPr>
          <p:nvPr>
            <p:ph type="body" sz="quarter" idx="14"/>
          </p:nvPr>
        </p:nvSpPr>
        <p:spPr/>
        <p:txBody>
          <a:bodyPr/>
          <a:lstStyle/>
          <a:p>
            <a:r>
              <a:t>Cisco  /  Splunk Demo Day  -  May 2026</a:t>
            </a:r>
          </a:p>
        </p:txBody>
      </p:sp>
      <p:sp>
        <p:nvSpPr>
          <p:cNvPr id="6" name="Text Placeholder 5"/>
          <p:cNvSpPr>
            <a:spLocks noGrp="1"/>
          </p:cNvSpPr>
          <p:nvPr>
            <p:ph type="body" sz="quarter" idx="12"/>
          </p:nvPr>
        </p:nvSpPr>
        <p:spPr/>
        <p:txBody>
          <a:bodyPr/>
          <a:lstStyle/>
          <a:p>
            <a:r>
              <a:t>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4" name="Text Placeholder 3"/>
          <p:cNvSpPr>
            <a:spLocks noGrp="1"/>
          </p:cNvSpPr>
          <p:nvPr>
            <p:ph type="body" sz="quarter" idx="18"/>
          </p:nvPr>
        </p:nvSpPr>
        <p:spPr>
          <a:xfrm>
            <a:off x="1005624" y="1211263"/>
            <a:ext cx="10180752" cy="4925586"/>
          </a:xfrm>
        </p:spPr>
        <p:txBody>
          <a:bodyPr/>
          <a:lstStyle/>
          <a:p>
            <a:r>
              <a:rPr sz="1600" dirty="0"/>
              <a:t>Why we built this demo</a:t>
            </a:r>
            <a:endParaRPr lang="en-US" sz="1600" dirty="0"/>
          </a:p>
          <a:p>
            <a:endParaRPr sz="1600" dirty="0"/>
          </a:p>
          <a:p>
            <a:r>
              <a:rPr sz="1600" dirty="0"/>
              <a:t>Act I  -  The 6-minute investigation  (RUM → APM → LOC → Profiling)</a:t>
            </a:r>
          </a:p>
          <a:p>
            <a:r>
              <a:rPr sz="1600" dirty="0"/>
              <a:t>Act II  -  Breadth tour  (service map, Tag Spotlight, detectors, ITSI)</a:t>
            </a:r>
          </a:p>
          <a:p>
            <a:r>
              <a:rPr sz="1600" dirty="0"/>
              <a:t>European customer reach  -  Madrid, roaming, weekends, bank holidays</a:t>
            </a:r>
          </a:p>
          <a:p>
            <a:r>
              <a:rPr sz="1600" dirty="0"/>
              <a:t>Chaos Controller  -  scripted incidents, one click recovery</a:t>
            </a:r>
          </a:p>
          <a:p>
            <a:r>
              <a:rPr sz="1600" dirty="0"/>
              <a:t>Why this matters, objections, next step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From a customer click to a line of code, in six minutes.</a:t>
            </a:r>
          </a:p>
        </p:txBody>
      </p:sp>
      <p:sp>
        <p:nvSpPr>
          <p:cNvPr id="3" name="Text Placeholder 2"/>
          <p:cNvSpPr>
            <a:spLocks noGrp="1"/>
          </p:cNvSpPr>
          <p:nvPr>
            <p:ph type="body" sz="quarter" idx="11"/>
          </p:nvPr>
        </p:nvSpPr>
        <p:spPr/>
        <p:txBody>
          <a:bodyPr/>
          <a:lstStyle/>
          <a:p>
            <a:r>
              <a:t>One trace ID survives every product surface  -  RUM, APM, logs, profiler, infra. No copy-paste between tools.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platform under the lens</a:t>
            </a:r>
          </a:p>
        </p:txBody>
      </p:sp>
      <p:sp>
        <p:nvSpPr>
          <p:cNvPr id="3" name="Text Placeholder 2"/>
          <p:cNvSpPr>
            <a:spLocks noGrp="1"/>
          </p:cNvSpPr>
          <p:nvPr>
            <p:ph type="body" sz="quarter" idx="12"/>
          </p:nvPr>
        </p:nvSpPr>
        <p:spPr/>
        <p:txBody>
          <a:bodyPr/>
          <a:lstStyle/>
          <a:p>
            <a:r>
              <a:t>24 microservices  -  Python + Java, polyglot OTel auto-instrumentation</a:t>
            </a:r>
          </a:p>
          <a:p>
            <a:r>
              <a:t>6 UK / European payment schemes  -  FPS, BACS, CHAPS, SEPA, SWIFT, Cheque</a:t>
            </a:r>
          </a:p>
          <a:p>
            <a:r>
              <a:t>3 customer tiers  -  Bronze (60 %), Silver (30 %), Gold (10 %)</a:t>
            </a:r>
          </a:p>
          <a:p>
            <a:r>
              <a:t>9 European cities driving traffic  -  London, Frankfurt, Paris, Madrid, Milan, Amsterdam, Dublin, Lisbon, Brussels</a:t>
            </a:r>
          </a:p>
          <a:p>
            <a:r>
              <a:t>~ 3,000 transactions / minute at peak  -  realistic UK retail-bank curve, weekday + weekend</a:t>
            </a:r>
          </a:p>
          <a:p>
            <a:r>
              <a:t>Infra  -  EKS, RDS Postgres, ElastiCache Redis, MSK Kafka, AWS observability + ThousandEyes</a:t>
            </a:r>
          </a:p>
          <a:p>
            <a:r>
              <a:t>Splunk surfaces  -  Observability Cloud (RUM/APM/Profiling/Synthetics) + Splunk Enterprise + ITSI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you're about to see</a:t>
            </a:r>
          </a:p>
        </p:txBody>
      </p:sp>
      <p:sp>
        <p:nvSpPr>
          <p:cNvPr id="3" name="Text Placeholder 2"/>
          <p:cNvSpPr>
            <a:spLocks noGrp="1"/>
          </p:cNvSpPr>
          <p:nvPr>
            <p:ph type="body" sz="quarter" idx="11"/>
          </p:nvPr>
        </p:nvSpPr>
        <p:spPr/>
        <p:txBody>
          <a:bodyPr/>
          <a:lstStyle/>
          <a:p>
            <a:r>
              <a:t>Six product surfaces, one investigation</a:t>
            </a:r>
          </a:p>
        </p:txBody>
      </p:sp>
      <p:graphicFrame>
        <p:nvGraphicFramePr>
          <p:cNvPr id="4" name="Table 3"/>
          <p:cNvGraphicFramePr>
            <a:graphicFrameLocks noGrp="1"/>
          </p:cNvGraphicFramePr>
          <p:nvPr>
            <p:extLst>
              <p:ext uri="{D42A27DB-BD31-4B8C-83A1-F6EECF244321}">
                <p14:modId xmlns:p14="http://schemas.microsoft.com/office/powerpoint/2010/main" val="620362582"/>
              </p:ext>
            </p:extLst>
          </p:nvPr>
        </p:nvGraphicFramePr>
        <p:xfrm>
          <a:off x="323850" y="1555750"/>
          <a:ext cx="11544300" cy="4519613"/>
        </p:xfrm>
        <a:graphic>
          <a:graphicData uri="http://schemas.openxmlformats.org/drawingml/2006/table">
            <a:tbl>
              <a:tblPr firstRow="1" bandRow="1">
                <a:tableStyleId>{5C22544A-7EE6-4342-B048-85BDC9FD1C3A}</a:tableStyleId>
              </a:tblPr>
              <a:tblGrid>
                <a:gridCol w="5772150">
                  <a:extLst>
                    <a:ext uri="{9D8B030D-6E8A-4147-A177-3AD203B41FA5}">
                      <a16:colId xmlns:a16="http://schemas.microsoft.com/office/drawing/2014/main" val="20000"/>
                    </a:ext>
                  </a:extLst>
                </a:gridCol>
                <a:gridCol w="5772150">
                  <a:extLst>
                    <a:ext uri="{9D8B030D-6E8A-4147-A177-3AD203B41FA5}">
                      <a16:colId xmlns:a16="http://schemas.microsoft.com/office/drawing/2014/main" val="20001"/>
                    </a:ext>
                  </a:extLst>
                </a:gridCol>
              </a:tblGrid>
              <a:tr h="645659">
                <a:tc>
                  <a:txBody>
                    <a:bodyPr/>
                    <a:lstStyle/>
                    <a:p>
                      <a:r>
                        <a:rPr sz="1400" b="1">
                          <a:solidFill>
                            <a:schemeClr val="tx1"/>
                          </a:solidFill>
                        </a:rPr>
                        <a:t>Surface</a:t>
                      </a:r>
                    </a:p>
                  </a:txBody>
                  <a:tcPr/>
                </a:tc>
                <a:tc>
                  <a:txBody>
                    <a:bodyPr/>
                    <a:lstStyle/>
                    <a:p>
                      <a:r>
                        <a:rPr sz="1400" b="1">
                          <a:solidFill>
                            <a:schemeClr val="tx1"/>
                          </a:solidFill>
                        </a:rPr>
                        <a:t>Question it answers</a:t>
                      </a:r>
                    </a:p>
                  </a:txBody>
                  <a:tcPr/>
                </a:tc>
                <a:extLst>
                  <a:ext uri="{0D108BD9-81ED-4DB2-BD59-A6C34878D82A}">
                    <a16:rowId xmlns:a16="http://schemas.microsoft.com/office/drawing/2014/main" val="10000"/>
                  </a:ext>
                </a:extLst>
              </a:tr>
              <a:tr h="645659">
                <a:tc>
                  <a:txBody>
                    <a:bodyPr/>
                    <a:lstStyle/>
                    <a:p>
                      <a:r>
                        <a:rPr sz="1200" dirty="0">
                          <a:solidFill>
                            <a:schemeClr val="tx1"/>
                          </a:solidFill>
                        </a:rPr>
                        <a:t>RUM</a:t>
                      </a:r>
                    </a:p>
                  </a:txBody>
                  <a:tcPr/>
                </a:tc>
                <a:tc>
                  <a:txBody>
                    <a:bodyPr/>
                    <a:lstStyle/>
                    <a:p>
                      <a:r>
                        <a:rPr sz="1200">
                          <a:solidFill>
                            <a:schemeClr val="tx1"/>
                          </a:solidFill>
                        </a:rPr>
                        <a:t>Which customer felt this, and when?</a:t>
                      </a:r>
                    </a:p>
                  </a:txBody>
                  <a:tcPr/>
                </a:tc>
                <a:extLst>
                  <a:ext uri="{0D108BD9-81ED-4DB2-BD59-A6C34878D82A}">
                    <a16:rowId xmlns:a16="http://schemas.microsoft.com/office/drawing/2014/main" val="10001"/>
                  </a:ext>
                </a:extLst>
              </a:tr>
              <a:tr h="645659">
                <a:tc>
                  <a:txBody>
                    <a:bodyPr/>
                    <a:lstStyle/>
                    <a:p>
                      <a:r>
                        <a:rPr sz="1200">
                          <a:solidFill>
                            <a:schemeClr val="tx1"/>
                          </a:solidFill>
                        </a:rPr>
                        <a:t>APM</a:t>
                      </a:r>
                    </a:p>
                  </a:txBody>
                  <a:tcPr/>
                </a:tc>
                <a:tc>
                  <a:txBody>
                    <a:bodyPr/>
                    <a:lstStyle/>
                    <a:p>
                      <a:r>
                        <a:rPr sz="1200">
                          <a:solidFill>
                            <a:schemeClr val="tx1"/>
                          </a:solidFill>
                        </a:rPr>
                        <a:t>Which service inside the bank slowed them down?</a:t>
                      </a:r>
                    </a:p>
                  </a:txBody>
                  <a:tcPr/>
                </a:tc>
                <a:extLst>
                  <a:ext uri="{0D108BD9-81ED-4DB2-BD59-A6C34878D82A}">
                    <a16:rowId xmlns:a16="http://schemas.microsoft.com/office/drawing/2014/main" val="10002"/>
                  </a:ext>
                </a:extLst>
              </a:tr>
              <a:tr h="645659">
                <a:tc>
                  <a:txBody>
                    <a:bodyPr/>
                    <a:lstStyle/>
                    <a:p>
                      <a:r>
                        <a:rPr sz="1200">
                          <a:solidFill>
                            <a:schemeClr val="tx1"/>
                          </a:solidFill>
                        </a:rPr>
                        <a:t>AlwaysOn Profiling</a:t>
                      </a:r>
                    </a:p>
                  </a:txBody>
                  <a:tcPr/>
                </a:tc>
                <a:tc>
                  <a:txBody>
                    <a:bodyPr/>
                    <a:lstStyle/>
                    <a:p>
                      <a:r>
                        <a:rPr sz="1200">
                          <a:solidFill>
                            <a:schemeClr val="tx1"/>
                          </a:solidFill>
                        </a:rPr>
                        <a:t>Which line of code is burning the CPU?</a:t>
                      </a:r>
                    </a:p>
                  </a:txBody>
                  <a:tcPr/>
                </a:tc>
                <a:extLst>
                  <a:ext uri="{0D108BD9-81ED-4DB2-BD59-A6C34878D82A}">
                    <a16:rowId xmlns:a16="http://schemas.microsoft.com/office/drawing/2014/main" val="10003"/>
                  </a:ext>
                </a:extLst>
              </a:tr>
              <a:tr h="645659">
                <a:tc>
                  <a:txBody>
                    <a:bodyPr/>
                    <a:lstStyle/>
                    <a:p>
                      <a:r>
                        <a:rPr sz="1200">
                          <a:solidFill>
                            <a:schemeClr val="tx1"/>
                          </a:solidFill>
                        </a:rPr>
                        <a:t>Logs in Context (LOC)</a:t>
                      </a:r>
                    </a:p>
                  </a:txBody>
                  <a:tcPr/>
                </a:tc>
                <a:tc>
                  <a:txBody>
                    <a:bodyPr/>
                    <a:lstStyle/>
                    <a:p>
                      <a:r>
                        <a:rPr sz="1200">
                          <a:solidFill>
                            <a:schemeClr val="tx1"/>
                          </a:solidFill>
                        </a:rPr>
                        <a:t>Show me this customer's log line, on this trace.</a:t>
                      </a:r>
                    </a:p>
                  </a:txBody>
                  <a:tcPr/>
                </a:tc>
                <a:extLst>
                  <a:ext uri="{0D108BD9-81ED-4DB2-BD59-A6C34878D82A}">
                    <a16:rowId xmlns:a16="http://schemas.microsoft.com/office/drawing/2014/main" val="10004"/>
                  </a:ext>
                </a:extLst>
              </a:tr>
              <a:tr h="645659">
                <a:tc>
                  <a:txBody>
                    <a:bodyPr/>
                    <a:lstStyle/>
                    <a:p>
                      <a:r>
                        <a:rPr sz="1200">
                          <a:solidFill>
                            <a:schemeClr val="tx1"/>
                          </a:solidFill>
                        </a:rPr>
                        <a:t>DB Query Performance</a:t>
                      </a:r>
                    </a:p>
                  </a:txBody>
                  <a:tcPr/>
                </a:tc>
                <a:tc>
                  <a:txBody>
                    <a:bodyPr/>
                    <a:lstStyle/>
                    <a:p>
                      <a:r>
                        <a:rPr sz="1200">
                          <a:solidFill>
                            <a:schemeClr val="tx1"/>
                          </a:solidFill>
                        </a:rPr>
                        <a:t>Which SQL template is dragging settlement?</a:t>
                      </a:r>
                    </a:p>
                  </a:txBody>
                  <a:tcPr/>
                </a:tc>
                <a:extLst>
                  <a:ext uri="{0D108BD9-81ED-4DB2-BD59-A6C34878D82A}">
                    <a16:rowId xmlns:a16="http://schemas.microsoft.com/office/drawing/2014/main" val="10005"/>
                  </a:ext>
                </a:extLst>
              </a:tr>
              <a:tr h="645659">
                <a:tc>
                  <a:txBody>
                    <a:bodyPr/>
                    <a:lstStyle/>
                    <a:p>
                      <a:r>
                        <a:rPr sz="1200">
                          <a:solidFill>
                            <a:schemeClr val="tx1"/>
                          </a:solidFill>
                        </a:rPr>
                        <a:t>Detectors / SLOs / Synthetics</a:t>
                      </a:r>
                    </a:p>
                  </a:txBody>
                  <a:tcPr/>
                </a:tc>
                <a:tc>
                  <a:txBody>
                    <a:bodyPr/>
                    <a:lstStyle/>
                    <a:p>
                      <a:r>
                        <a:rPr sz="1200" dirty="0">
                          <a:solidFill>
                            <a:schemeClr val="tx1"/>
                          </a:solidFill>
                        </a:rPr>
                        <a:t>Tell me before the customer does.</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The 6-minute investigation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1   Customer click  (Splunk RUM)</a:t>
            </a:r>
          </a:p>
        </p:txBody>
      </p:sp>
      <p:sp>
        <p:nvSpPr>
          <p:cNvPr id="3" name="Text Placeholder 2"/>
          <p:cNvSpPr>
            <a:spLocks noGrp="1"/>
          </p:cNvSpPr>
          <p:nvPr>
            <p:ph type="body" sz="quarter" idx="12"/>
          </p:nvPr>
        </p:nvSpPr>
        <p:spPr/>
        <p:txBody>
          <a:bodyPr/>
          <a:lstStyle/>
          <a:p>
            <a:r>
              <a:t>Submit one SWIFT payment from the SPA  -  Olivia (Bronze) or Sofia (Madrid)</a:t>
            </a:r>
          </a:p>
          <a:p>
            <a:r>
              <a:t>RUM → Sessions: the page-action span Send payment is already there</a:t>
            </a:r>
          </a:p>
          <a:p>
            <a:r>
              <a:t>W3C traceparent header links the click to a server-side trace - automatically</a:t>
            </a:r>
          </a:p>
          <a:p>
            <a:r>
              <a:t>Span attributes already carry customer.tier, customer.location, customer.country</a:t>
            </a:r>
          </a:p>
          <a:p>
            <a:r>
              <a:t>One click on APM trace - we are now inside the bank</a:t>
            </a:r>
          </a:p>
          <a:p>
            <a:r>
              <a:t>Ask: how long does it take your team today to go from 'a customer is complaining' to 'I have the trace'?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2   Slow span  (Splunk APM)</a:t>
            </a:r>
          </a:p>
        </p:txBody>
      </p:sp>
      <p:sp>
        <p:nvSpPr>
          <p:cNvPr id="3" name="Text Placeholder 2"/>
          <p:cNvSpPr>
            <a:spLocks noGrp="1"/>
          </p:cNvSpPr>
          <p:nvPr>
            <p:ph type="body" sz="quarter" idx="12"/>
          </p:nvPr>
        </p:nvSpPr>
        <p:spPr/>
        <p:txBody>
          <a:bodyPr/>
          <a:lstStyle/>
          <a:p>
            <a:r>
              <a:t>Trace tree: web-frontend → api-gateway → payment-initiation → fraud-detection</a:t>
            </a:r>
          </a:p>
          <a:p>
            <a:r>
              <a:t>compute_fraud_features  -  new CPU-bound child span dominates the trace</a:t>
            </a:r>
          </a:p>
          <a:p>
            <a:pPr lvl="1"/>
            <a:r>
              <a:t>Business attributes are first-class data, not afterthoughts</a:t>
            </a:r>
          </a:p>
          <a:p>
            <a:pPr lvl="2"/>
            <a:r>
              <a:t>fraud.algo = pairwise   |   fraud.feature_count = 96</a:t>
            </a:r>
          </a:p>
          <a:p>
            <a:pPr lvl="2"/>
            <a:r>
              <a:t>payment.scheme = SWIFT  |   customer.tier = bronze</a:t>
            </a:r>
          </a:p>
          <a:p>
            <a:r>
              <a:t>Side-quest: ledger-service JDBC spans - db.system=postgresql, db.statement=SELECT SUM(...)</a:t>
            </a:r>
          </a:p>
          <a:p>
            <a:r>
              <a:t>Ask: how many tools is that journey today - two? three? five?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3   Logs in Context  (LOC)</a:t>
            </a:r>
          </a:p>
        </p:txBody>
      </p:sp>
      <p:sp>
        <p:nvSpPr>
          <p:cNvPr id="3" name="Text Placeholder 2"/>
          <p:cNvSpPr>
            <a:spLocks noGrp="1"/>
          </p:cNvSpPr>
          <p:nvPr>
            <p:ph type="body" sz="quarter" idx="12"/>
          </p:nvPr>
        </p:nvSpPr>
        <p:spPr/>
        <p:txBody>
          <a:bodyPr/>
          <a:lstStyle/>
          <a:p>
            <a:r>
              <a:t>Same APM span → Logs for this trace</a:t>
            </a:r>
          </a:p>
          <a:p>
            <a:r>
              <a:t>One structured JSON record from fraud-detection-service - this trace, this pod</a:t>
            </a:r>
          </a:p>
          <a:p>
            <a:r>
              <a:t>Fields  -  service, level, trace_id, span_id, payment_id, payment.scheme</a:t>
            </a:r>
          </a:p>
          <a:p>
            <a:r>
              <a:t>Logs ship via Splunk OTel Collector to in-VPC Splunk Enterprise (HEC 8088)</a:t>
            </a:r>
          </a:p>
          <a:p>
            <a:r>
              <a:t>Log Observer Connect federates them into Observability Cloud - same governance, same indexers, no log re-platform</a:t>
            </a:r>
          </a:p>
          <a:p>
            <a:r>
              <a:t>Ask: where does this pivot live in your stack today, and how many context switches does it cost?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4   Line of code  (AlwaysOn Profiling)</a:t>
            </a:r>
          </a:p>
        </p:txBody>
      </p:sp>
      <p:sp>
        <p:nvSpPr>
          <p:cNvPr id="3" name="Text Placeholder 2"/>
          <p:cNvSpPr>
            <a:spLocks noGrp="1"/>
          </p:cNvSpPr>
          <p:nvPr>
            <p:ph type="body" sz="quarter" idx="12"/>
          </p:nvPr>
        </p:nvSpPr>
        <p:spPr/>
        <p:txBody>
          <a:bodyPr/>
          <a:lstStyle/>
          <a:p>
            <a:r>
              <a:t>Same APM span → expand AlwaysOn Profiling</a:t>
            </a:r>
          </a:p>
          <a:p>
            <a:r>
              <a:t>CPU flame graph: _extract_features_pairwise inside compute_fraud_features dominates</a:t>
            </a:r>
          </a:p>
          <a:p>
            <a:r>
              <a:t>Profiling diff - last 5 min vs baseline. The regression tower is unmistakable</a:t>
            </a:r>
          </a:p>
          <a:p>
            <a:r>
              <a:t>The frame name is the line of code  -  not 'fraud-detection regressed', but which line of which file</a:t>
            </a:r>
          </a:p>
          <a:p>
            <a:r>
              <a:t>~ 1 % CPU overhead in production. Always-on, every JVM and every Python process</a:t>
            </a:r>
          </a:p>
          <a:p>
            <a:r>
              <a:t>Ask: how often does an investigation actually finish on a line of code today?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  -  5   Recover</a:t>
            </a:r>
          </a:p>
        </p:txBody>
      </p:sp>
      <p:sp>
        <p:nvSpPr>
          <p:cNvPr id="3" name="Text Placeholder 2"/>
          <p:cNvSpPr>
            <a:spLocks noGrp="1"/>
          </p:cNvSpPr>
          <p:nvPr>
            <p:ph type="body" sz="quarter" idx="12"/>
          </p:nvPr>
        </p:nvSpPr>
        <p:spPr/>
        <p:txBody>
          <a:bodyPr/>
          <a:lstStyle/>
          <a:p>
            <a:r>
              <a:t>Terminal: scripts/incident.sh recover  (or click Clear in the Chaos Controller)</a:t>
            </a:r>
          </a:p>
          <a:p>
            <a:r>
              <a:t>p99 latency settles in the dashboard pane within ~30 seconds</a:t>
            </a:r>
          </a:p>
          <a:p>
            <a:r>
              <a:t>Profiling diff: the regression tower disappears</a:t>
            </a:r>
          </a:p>
          <a:p>
            <a:r>
              <a:t>Refresh the SPA - next payment clears fast</a:t>
            </a:r>
          </a:p>
          <a:p>
            <a:r>
              <a:t>Bracket: RUM → APM → LOC → Profile, in six minutes, on one page</a:t>
            </a:r>
          </a:p>
          <a:p>
            <a:r>
              <a:t>One mental model. One place every signal converges into a story.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II  -  The breadth tour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II  -  A   Service map  (breadth)</a:t>
            </a:r>
          </a:p>
        </p:txBody>
      </p:sp>
      <p:sp>
        <p:nvSpPr>
          <p:cNvPr id="3" name="Text Placeholder 2"/>
          <p:cNvSpPr>
            <a:spLocks noGrp="1"/>
          </p:cNvSpPr>
          <p:nvPr>
            <p:ph type="body" sz="quarter" idx="12"/>
          </p:nvPr>
        </p:nvSpPr>
        <p:spPr/>
        <p:txBody>
          <a:bodyPr/>
          <a:lstStyle/>
          <a:p>
            <a:r>
              <a:t>APM → Service Map, scoped to environment = demo</a:t>
            </a:r>
          </a:p>
          <a:p>
            <a:r>
              <a:t>24 services auto-discovered. No PRs, no per-service config</a:t>
            </a:r>
          </a:p>
          <a:p>
            <a:r>
              <a:t>Postgres, Redis, Kafka inferred from OTel client spans - no exporter</a:t>
            </a:r>
          </a:p>
          <a:p>
            <a:r>
              <a:t>Dotted Kafka edge: payment-initiation → settlement is async producer / consumer</a:t>
            </a:r>
          </a:p>
          <a:p>
            <a:r>
              <a:t>Polyglot mesh: Java ledger-service middle-of-fleet, Python everywhere else</a:t>
            </a:r>
          </a:p>
          <a:p>
            <a:r>
              <a:t>Click the Postgres node → DB Query Performance, same surface, no new tool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II  -  B   Tag Spotlight  (business questions)</a:t>
            </a:r>
          </a:p>
        </p:txBody>
      </p:sp>
      <p:sp>
        <p:nvSpPr>
          <p:cNvPr id="3" name="Text Placeholder 2"/>
          <p:cNvSpPr>
            <a:spLocks noGrp="1"/>
          </p:cNvSpPr>
          <p:nvPr>
            <p:ph type="body" sz="quarter" idx="11"/>
          </p:nvPr>
        </p:nvSpPr>
        <p:spPr/>
        <p:txBody>
          <a:bodyPr/>
          <a:lstStyle/>
          <a:p>
            <a:r>
              <a:t>Same span attributes pivot every panel - no JIRA ticket to the data team</a:t>
            </a:r>
          </a:p>
        </p:txBody>
      </p:sp>
      <p:sp>
        <p:nvSpPr>
          <p:cNvPr id="4" name="Text Placeholder 3"/>
          <p:cNvSpPr>
            <a:spLocks noGrp="1"/>
          </p:cNvSpPr>
          <p:nvPr>
            <p:ph type="body" sz="quarter" idx="13"/>
          </p:nvPr>
        </p:nvSpPr>
        <p:spPr/>
        <p:txBody>
          <a:bodyPr/>
          <a:lstStyle/>
          <a:p>
            <a:r>
              <a:t>By payment.scheme</a:t>
            </a:r>
          </a:p>
          <a:p>
            <a:pPr lvl="1"/>
            <a:r>
              <a:t>SWIFT highest p99 + error rate</a:t>
            </a:r>
          </a:p>
          <a:p>
            <a:pPr lvl="1"/>
            <a:r>
              <a:t>CHAPS high value, low volume</a:t>
            </a:r>
          </a:p>
          <a:p>
            <a:pPr lvl="1"/>
            <a:r>
              <a:t>FPS dominates volume</a:t>
            </a:r>
          </a:p>
        </p:txBody>
      </p:sp>
      <p:sp>
        <p:nvSpPr>
          <p:cNvPr id="5" name="Text Placeholder 4"/>
          <p:cNvSpPr>
            <a:spLocks noGrp="1"/>
          </p:cNvSpPr>
          <p:nvPr>
            <p:ph type="body" sz="quarter" idx="14"/>
          </p:nvPr>
        </p:nvSpPr>
        <p:spPr/>
        <p:txBody>
          <a:bodyPr/>
          <a:lstStyle/>
          <a:p>
            <a:r>
              <a:t>By customer.tier</a:t>
            </a:r>
          </a:p>
          <a:p>
            <a:pPr lvl="1"/>
            <a:r>
              <a:t>Bronze / Silver / Gold cohorts</a:t>
            </a:r>
          </a:p>
          <a:p>
            <a:pPr lvl="1"/>
            <a:r>
              <a:t>Gold p95 below Bronze (fast-path)</a:t>
            </a:r>
          </a:p>
          <a:p>
            <a:pPr lvl="1"/>
            <a:r>
              <a:t>Bronze decline rate is the canary</a:t>
            </a:r>
          </a:p>
        </p:txBody>
      </p:sp>
      <p:sp>
        <p:nvSpPr>
          <p:cNvPr id="6" name="Text Placeholder 5"/>
          <p:cNvSpPr>
            <a:spLocks noGrp="1"/>
          </p:cNvSpPr>
          <p:nvPr>
            <p:ph type="body" sz="quarter" idx="15"/>
          </p:nvPr>
        </p:nvSpPr>
        <p:spPr/>
        <p:txBody>
          <a:bodyPr/>
          <a:lstStyle/>
          <a:p>
            <a:r>
              <a:t>By customer.location</a:t>
            </a:r>
          </a:p>
          <a:p>
            <a:pPr lvl="1"/>
            <a:r>
              <a:t>9 European cities tagged on every span</a:t>
            </a:r>
          </a:p>
          <a:p>
            <a:pPr lvl="1"/>
            <a:r>
              <a:t>Madrid 450 ms baseline RTT stands out</a:t>
            </a:r>
          </a:p>
          <a:p>
            <a:pPr lvl="1"/>
            <a:r>
              <a:t>payment.roaming flag for fraud pivots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II  -  C   Detectors, SLOs, Synthetics</a:t>
            </a:r>
          </a:p>
        </p:txBody>
      </p:sp>
      <p:sp>
        <p:nvSpPr>
          <p:cNvPr id="3" name="Text Placeholder 2"/>
          <p:cNvSpPr>
            <a:spLocks noGrp="1"/>
          </p:cNvSpPr>
          <p:nvPr>
            <p:ph type="body" sz="quarter" idx="12"/>
          </p:nvPr>
        </p:nvSpPr>
        <p:spPr/>
        <p:txBody>
          <a:bodyPr/>
          <a:lstStyle/>
          <a:p>
            <a:r>
              <a:t>Run scripts/incident.sh swift-counterparty-flap   -or-   click Inject in the Chaos Controller</a:t>
            </a:r>
          </a:p>
          <a:p>
            <a:r>
              <a:t>[NatWest demo] SWIFT error rate detector fires Critical within ~ 30 seconds</a:t>
            </a:r>
          </a:p>
          <a:p>
            <a:r>
              <a:t>[NatWest demo] Madrid p95 latency  -  customer.location-scoped detector mirrors the ITSI correlation search</a:t>
            </a:r>
          </a:p>
          <a:p>
            <a:r>
              <a:t>[NatWest demo] Bronze tier decline rate  -  catches scripts/incident.sh inject-tier-throttle bronze</a:t>
            </a:r>
          </a:p>
          <a:p>
            <a:r>
              <a:t>Synthetic Monitoring  -  end-to-end gateway probe + ThousandEyes geographic reachability</a:t>
            </a:r>
          </a:p>
          <a:p>
            <a:r>
              <a:t>'Detectors don't replace your eyes  -  they buy them back. The team sleeps; the platform watches.'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 II  -  D   ITSI: Episodes, KPIs, glass tables</a:t>
            </a:r>
          </a:p>
        </p:txBody>
      </p:sp>
      <p:sp>
        <p:nvSpPr>
          <p:cNvPr id="3" name="Text Placeholder 2"/>
          <p:cNvSpPr>
            <a:spLocks noGrp="1"/>
          </p:cNvSpPr>
          <p:nvPr>
            <p:ph type="body" sz="quarter" idx="12"/>
          </p:nvPr>
        </p:nvSpPr>
        <p:spPr/>
        <p:txBody>
          <a:bodyPr/>
          <a:lstStyle/>
          <a:p>
            <a:r>
              <a:t>Episode Review correlates Splunk Observability + Splunk Enterprise audit + OTel-trace correlation searches</a:t>
            </a:r>
          </a:p>
          <a:p>
            <a:r>
              <a:t>L1 service: NatWest Card Payments  -  payments per minute, value authorised, customers impacted, success rate</a:t>
            </a:r>
          </a:p>
          <a:p>
            <a:r>
              <a:t>L2 services include Bronze / Silver / Gold experience AND a new Payments by Location service</a:t>
            </a:r>
          </a:p>
          <a:p>
            <a:r>
              <a:t>Payments by Location KPIs - London / Madrid / Frankfurt / Paris / Milan p95 + roaming p95 + roaming error rate</a:t>
            </a:r>
          </a:p>
          <a:p>
            <a:r>
              <a:t>Glass table: per-city p95 table, customer-origin choropleth, roaming-payment p95 by country</a:t>
            </a:r>
          </a:p>
          <a:p>
            <a:r>
              <a:t>Correlation searches: excessive declines by tier, chaos outside change window, Madrid p95 breach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European customer reach</a:t>
            </a:r>
          </a:p>
        </p:txBody>
      </p:sp>
      <p:sp>
        <p:nvSpPr>
          <p:cNvPr id="3" name="Text Placeholder 2"/>
          <p:cNvSpPr>
            <a:spLocks noGrp="1"/>
          </p:cNvSpPr>
          <p:nvPr>
            <p:ph type="body" sz="quarter" idx="11"/>
          </p:nvPr>
        </p:nvSpPr>
        <p:spPr/>
        <p:txBody>
          <a:bodyPr/>
          <a:lstStyle/>
          <a:p>
            <a:r>
              <a:t>The bank does not stop at the M25  -  every span carries location and home country</a:t>
            </a:r>
          </a:p>
        </p:txBody>
      </p:sp>
      <p:sp>
        <p:nvSpPr>
          <p:cNvPr id="4" name="Text Placeholder 3"/>
          <p:cNvSpPr>
            <a:spLocks noGrp="1"/>
          </p:cNvSpPr>
          <p:nvPr>
            <p:ph type="body" sz="quarter" idx="13"/>
          </p:nvPr>
        </p:nvSpPr>
        <p:spPr/>
        <p:txBody>
          <a:bodyPr/>
          <a:lstStyle/>
          <a:p>
            <a:r>
              <a:t>9 cities, weighted pool</a:t>
            </a:r>
          </a:p>
          <a:p>
            <a:pPr lvl="1"/>
            <a:r>
              <a:t>London 40 %  -  the UK retail base</a:t>
            </a:r>
          </a:p>
          <a:p>
            <a:pPr lvl="1"/>
            <a:r>
              <a:t>Frankfurt, Paris, Amsterdam, Brussels</a:t>
            </a:r>
          </a:p>
          <a:p>
            <a:pPr lvl="1"/>
            <a:r>
              <a:t>Madrid 10 % at 450 ms RTT baseline</a:t>
            </a:r>
          </a:p>
          <a:p>
            <a:pPr lvl="1"/>
            <a:r>
              <a:t>Milan, Dublin, Lisbon round out the long tail</a:t>
            </a:r>
          </a:p>
        </p:txBody>
      </p:sp>
      <p:sp>
        <p:nvSpPr>
          <p:cNvPr id="5" name="Text Placeholder 4"/>
          <p:cNvSpPr>
            <a:spLocks noGrp="1"/>
          </p:cNvSpPr>
          <p:nvPr>
            <p:ph type="body" sz="quarter" idx="14"/>
          </p:nvPr>
        </p:nvSpPr>
        <p:spPr/>
        <p:txBody>
          <a:bodyPr/>
          <a:lstStyle/>
          <a:p>
            <a:r>
              <a:t>Realism dial</a:t>
            </a:r>
          </a:p>
          <a:p>
            <a:pPr lvl="1"/>
            <a:r>
              <a:t>Weekday + weekend RPS curves (Europe / London tz)</a:t>
            </a:r>
          </a:p>
          <a:p>
            <a:pPr lvl="1"/>
            <a:r>
              <a:t>2026 bank-holiday calendar per country</a:t>
            </a:r>
          </a:p>
          <a:p>
            <a:pPr lvl="1"/>
            <a:r>
              <a:t>Region-aware channel mix - mobile-first South, web-first DACH</a:t>
            </a:r>
          </a:p>
          <a:p>
            <a:pPr lvl="1"/>
            <a:r>
              <a:t>~ 5 % roaming  -  customer.home_country differs from customer.country</a:t>
            </a:r>
          </a:p>
        </p:txBody>
      </p:sp>
      <p:sp>
        <p:nvSpPr>
          <p:cNvPr id="6" name="Text Placeholder 5"/>
          <p:cNvSpPr>
            <a:spLocks noGrp="1"/>
          </p:cNvSpPr>
          <p:nvPr>
            <p:ph type="body" sz="quarter" idx="15"/>
          </p:nvPr>
        </p:nvSpPr>
        <p:spPr/>
        <p:txBody>
          <a:bodyPr/>
          <a:lstStyle/>
          <a:p>
            <a:r>
              <a:t>What it lights up</a:t>
            </a:r>
          </a:p>
          <a:p>
            <a:pPr lvl="1"/>
            <a:r>
              <a:t>APM Tag Spotlight by customer.location</a:t>
            </a:r>
          </a:p>
          <a:p>
            <a:pPr lvl="1"/>
            <a:r>
              <a:t>Madrid p95 detector + ITSI correlation search</a:t>
            </a:r>
          </a:p>
          <a:p>
            <a:pPr lvl="1"/>
            <a:r>
              <a:t>ITSI Payments by Location service</a:t>
            </a:r>
          </a:p>
          <a:p>
            <a:pPr lvl="1"/>
            <a:r>
              <a:t>Glass-table choropleth and roaming-payment timechart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Chaos Controller  -  scripted incidents, one click recovery</a:t>
            </a:r>
          </a:p>
        </p:txBody>
      </p:sp>
      <p:sp>
        <p:nvSpPr>
          <p:cNvPr id="3" name="Text Placeholder 2"/>
          <p:cNvSpPr>
            <a:spLocks noGrp="1"/>
          </p:cNvSpPr>
          <p:nvPr>
            <p:ph type="body" sz="quarter" idx="14"/>
          </p:nvPr>
        </p:nvSpPr>
        <p:spPr/>
        <p:txBody>
          <a:bodyPr/>
          <a:lstStyle/>
          <a:p>
            <a:r>
              <a:t>Catalogue (live, in the SPA)</a:t>
            </a:r>
          </a:p>
          <a:p>
            <a:pPr lvl="1"/>
            <a:r>
              <a:t>App errors</a:t>
            </a:r>
          </a:p>
          <a:p>
            <a:pPr lvl="2"/>
            <a:r>
              <a:t>bad-deploy-fraud, swift-counterparty-flap, sanctions-cache-disabled</a:t>
            </a:r>
          </a:p>
          <a:p>
            <a:pPr lvl="1"/>
            <a:r>
              <a:t>Latency</a:t>
            </a:r>
          </a:p>
          <a:p>
            <a:pPr lvl="2"/>
            <a:r>
              <a:t>db-slow, tail-latency-storm, gateway-timeout-squeeze</a:t>
            </a:r>
          </a:p>
          <a:p>
            <a:pPr lvl="2"/>
            <a:r>
              <a:t>madrid-network-degradation  -  NEW</a:t>
            </a:r>
          </a:p>
          <a:p>
            <a:pPr lvl="1"/>
            <a:r>
              <a:t>Customer tier</a:t>
            </a:r>
          </a:p>
          <a:p>
            <a:pPr lvl="2"/>
            <a:r>
              <a:t>inject-tier-throttle, gold-fast-path-off</a:t>
            </a:r>
          </a:p>
          <a:p>
            <a:pPr lvl="1"/>
            <a:r>
              <a:t>Infra outages</a:t>
            </a:r>
          </a:p>
          <a:p>
            <a:pPr lvl="2"/>
            <a:r>
              <a:t>kill-service, postgres-outage, redis-outage, kafka-outage</a:t>
            </a:r>
          </a:p>
        </p:txBody>
      </p:sp>
      <p:sp>
        <p:nvSpPr>
          <p:cNvPr id="4" name="Text Placeholder 3"/>
          <p:cNvSpPr>
            <a:spLocks noGrp="1"/>
          </p:cNvSpPr>
          <p:nvPr>
            <p:ph type="body" sz="quarter" idx="15"/>
          </p:nvPr>
        </p:nvSpPr>
        <p:spPr/>
        <p:txBody>
          <a:bodyPr/>
          <a:lstStyle/>
          <a:p>
            <a:r>
              <a:t>madrid-network-degradation walkthrough</a:t>
            </a:r>
          </a:p>
          <a:p>
            <a:pPr lvl="1"/>
            <a:r>
              <a:t>One-click Inject from the SPA / Ops tab</a:t>
            </a:r>
          </a:p>
          <a:p>
            <a:pPr lvl="1"/>
            <a:r>
              <a:t>Patches traffic-generator env var LOCATION_LATENCY_PROFILES</a:t>
            </a:r>
          </a:p>
          <a:p>
            <a:pPr lvl="1"/>
            <a:r>
              <a:t>Madrid p95 jumps ~ 450 ms → ~ 2,000 ms within ~ 1 minute</a:t>
            </a:r>
          </a:p>
          <a:p>
            <a:pPr lvl="1"/>
            <a:r>
              <a:t>Madrid p95 detector fires Critical, ITSI Episode opens</a:t>
            </a:r>
          </a:p>
          <a:p>
            <a:pPr lvl="1"/>
            <a:r>
              <a:t>Other 8 cities stay flat - the story is geographic, not global</a:t>
            </a:r>
          </a:p>
          <a:p>
            <a:pPr lvl="1"/>
            <a:r>
              <a:t>One-click Clear restores the baseline</a:t>
            </a:r>
          </a:p>
          <a:p>
            <a:pPr lvl="1"/>
            <a:r>
              <a:t>Namespace-scoped RBAC - patch our own deployments, nothing else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mental model. One place every signal becomes a story.</a:t>
            </a:r>
          </a:p>
        </p:txBody>
      </p:sp>
      <p:sp>
        <p:nvSpPr>
          <p:cNvPr id="3" name="Text Placeholder 2"/>
          <p:cNvSpPr>
            <a:spLocks noGrp="1"/>
          </p:cNvSpPr>
          <p:nvPr>
            <p:ph type="body" sz="quarter" idx="11"/>
          </p:nvPr>
        </p:nvSpPr>
        <p:spPr/>
        <p:txBody>
          <a:bodyPr/>
          <a:lstStyle/>
          <a:p>
            <a:r>
              <a:t>Mean time to context is the only metric your CEO cares about. Six product surfaces, one trace ID, no copy-paste.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Objections you'll hear  -  and the demo answer</a:t>
            </a:r>
          </a:p>
        </p:txBody>
      </p:sp>
      <p:sp>
        <p:nvSpPr>
          <p:cNvPr id="3" name="Text Placeholder 2"/>
          <p:cNvSpPr>
            <a:spLocks noGrp="1"/>
          </p:cNvSpPr>
          <p:nvPr>
            <p:ph type="body" sz="quarter" idx="11"/>
          </p:nvPr>
        </p:nvSpPr>
        <p:spPr/>
        <p:txBody>
          <a:bodyPr/>
          <a:lstStyle/>
          <a:p>
            <a:r>
              <a:t>Anchored in what we just walked through</a:t>
            </a:r>
          </a:p>
        </p:txBody>
      </p:sp>
      <p:graphicFrame>
        <p:nvGraphicFramePr>
          <p:cNvPr id="4" name="Table 3"/>
          <p:cNvGraphicFramePr>
            <a:graphicFrameLocks noGrp="1"/>
          </p:cNvGraphicFramePr>
          <p:nvPr>
            <p:extLst>
              <p:ext uri="{D42A27DB-BD31-4B8C-83A1-F6EECF244321}">
                <p14:modId xmlns:p14="http://schemas.microsoft.com/office/powerpoint/2010/main" val="1952931812"/>
              </p:ext>
            </p:extLst>
          </p:nvPr>
        </p:nvGraphicFramePr>
        <p:xfrm>
          <a:off x="323850" y="1555750"/>
          <a:ext cx="11544300" cy="4519613"/>
        </p:xfrm>
        <a:graphic>
          <a:graphicData uri="http://schemas.openxmlformats.org/drawingml/2006/table">
            <a:tbl>
              <a:tblPr firstRow="1" bandRow="1">
                <a:tableStyleId>{5C22544A-7EE6-4342-B048-85BDC9FD1C3A}</a:tableStyleId>
              </a:tblPr>
              <a:tblGrid>
                <a:gridCol w="5772150">
                  <a:extLst>
                    <a:ext uri="{9D8B030D-6E8A-4147-A177-3AD203B41FA5}">
                      <a16:colId xmlns:a16="http://schemas.microsoft.com/office/drawing/2014/main" val="20000"/>
                    </a:ext>
                  </a:extLst>
                </a:gridCol>
                <a:gridCol w="5772150">
                  <a:extLst>
                    <a:ext uri="{9D8B030D-6E8A-4147-A177-3AD203B41FA5}">
                      <a16:colId xmlns:a16="http://schemas.microsoft.com/office/drawing/2014/main" val="20001"/>
                    </a:ext>
                  </a:extLst>
                </a:gridCol>
              </a:tblGrid>
              <a:tr h="645659">
                <a:tc>
                  <a:txBody>
                    <a:bodyPr/>
                    <a:lstStyle/>
                    <a:p>
                      <a:r>
                        <a:rPr sz="1400" b="1">
                          <a:solidFill>
                            <a:schemeClr val="tx1"/>
                          </a:solidFill>
                        </a:rPr>
                        <a:t>Objection</a:t>
                      </a:r>
                    </a:p>
                  </a:txBody>
                  <a:tcPr/>
                </a:tc>
                <a:tc>
                  <a:txBody>
                    <a:bodyPr/>
                    <a:lstStyle/>
                    <a:p>
                      <a:r>
                        <a:rPr sz="1400" b="1">
                          <a:solidFill>
                            <a:schemeClr val="tx1"/>
                          </a:solidFill>
                        </a:rPr>
                        <a:t>Answer anchored in the demo</a:t>
                      </a:r>
                    </a:p>
                  </a:txBody>
                  <a:tcPr/>
                </a:tc>
                <a:extLst>
                  <a:ext uri="{0D108BD9-81ED-4DB2-BD59-A6C34878D82A}">
                    <a16:rowId xmlns:a16="http://schemas.microsoft.com/office/drawing/2014/main" val="10000"/>
                  </a:ext>
                </a:extLst>
              </a:tr>
              <a:tr h="645659">
                <a:tc>
                  <a:txBody>
                    <a:bodyPr/>
                    <a:lstStyle/>
                    <a:p>
                      <a:r>
                        <a:rPr sz="1200" dirty="0">
                          <a:solidFill>
                            <a:schemeClr val="tx1"/>
                          </a:solidFill>
                        </a:rPr>
                        <a:t>We already have ELK / Datadog / Dynatrace.</a:t>
                      </a:r>
                    </a:p>
                  </a:txBody>
                  <a:tcPr/>
                </a:tc>
                <a:tc>
                  <a:txBody>
                    <a:bodyPr/>
                    <a:lstStyle/>
                    <a:p>
                      <a:r>
                        <a:rPr sz="1200">
                          <a:solidFill>
                            <a:schemeClr val="tx1"/>
                          </a:solidFill>
                        </a:rPr>
                        <a:t>Show me where one trace ID survives RUM → APM → log → profile in your stack.</a:t>
                      </a:r>
                    </a:p>
                  </a:txBody>
                  <a:tcPr/>
                </a:tc>
                <a:extLst>
                  <a:ext uri="{0D108BD9-81ED-4DB2-BD59-A6C34878D82A}">
                    <a16:rowId xmlns:a16="http://schemas.microsoft.com/office/drawing/2014/main" val="10001"/>
                  </a:ext>
                </a:extLst>
              </a:tr>
              <a:tr h="645659">
                <a:tc>
                  <a:txBody>
                    <a:bodyPr/>
                    <a:lstStyle/>
                    <a:p>
                      <a:r>
                        <a:rPr sz="1200">
                          <a:solidFill>
                            <a:schemeClr val="tx1"/>
                          </a:solidFill>
                        </a:rPr>
                        <a:t>AlwaysOn Profiling will eat my CPU budget.</a:t>
                      </a:r>
                    </a:p>
                  </a:txBody>
                  <a:tcPr/>
                </a:tc>
                <a:tc>
                  <a:txBody>
                    <a:bodyPr/>
                    <a:lstStyle/>
                    <a:p>
                      <a:r>
                        <a:rPr sz="1200">
                          <a:solidFill>
                            <a:schemeClr val="tx1"/>
                          </a:solidFill>
                        </a:rPr>
                        <a:t>It is running on every JVM and Python process in this demo at ~ 1 % overhead, right now.</a:t>
                      </a:r>
                    </a:p>
                  </a:txBody>
                  <a:tcPr/>
                </a:tc>
                <a:extLst>
                  <a:ext uri="{0D108BD9-81ED-4DB2-BD59-A6C34878D82A}">
                    <a16:rowId xmlns:a16="http://schemas.microsoft.com/office/drawing/2014/main" val="10002"/>
                  </a:ext>
                </a:extLst>
              </a:tr>
              <a:tr h="645659">
                <a:tc>
                  <a:txBody>
                    <a:bodyPr/>
                    <a:lstStyle/>
                    <a:p>
                      <a:r>
                        <a:rPr sz="1200">
                          <a:solidFill>
                            <a:schemeClr val="tx1"/>
                          </a:solidFill>
                        </a:rPr>
                        <a:t>Rolling OTel across 24 services is a multi-quarter program.</a:t>
                      </a:r>
                    </a:p>
                  </a:txBody>
                  <a:tcPr/>
                </a:tc>
                <a:tc>
                  <a:txBody>
                    <a:bodyPr/>
                    <a:lstStyle/>
                    <a:p>
                      <a:r>
                        <a:rPr sz="1200">
                          <a:solidFill>
                            <a:schemeClr val="tx1"/>
                          </a:solidFill>
                        </a:rPr>
                        <a:t>We deployed those 24 services and walked away  -  Splunk distro auto-instrumented them.</a:t>
                      </a:r>
                    </a:p>
                  </a:txBody>
                  <a:tcPr/>
                </a:tc>
                <a:extLst>
                  <a:ext uri="{0D108BD9-81ED-4DB2-BD59-A6C34878D82A}">
                    <a16:rowId xmlns:a16="http://schemas.microsoft.com/office/drawing/2014/main" val="10003"/>
                  </a:ext>
                </a:extLst>
              </a:tr>
              <a:tr h="645659">
                <a:tc>
                  <a:txBody>
                    <a:bodyPr/>
                    <a:lstStyle/>
                    <a:p>
                      <a:r>
                        <a:rPr sz="1200">
                          <a:solidFill>
                            <a:schemeClr val="tx1"/>
                          </a:solidFill>
                        </a:rPr>
                        <a:t>We can't expose PII as span attributes.</a:t>
                      </a:r>
                    </a:p>
                  </a:txBody>
                  <a:tcPr/>
                </a:tc>
                <a:tc>
                  <a:txBody>
                    <a:bodyPr/>
                    <a:lstStyle/>
                    <a:p>
                      <a:r>
                        <a:rPr sz="1200">
                          <a:solidFill>
                            <a:schemeClr val="tx1"/>
                          </a:solidFill>
                        </a:rPr>
                        <a:t>Tags are dimensions you opt in to. No PAN, no name, no PII in any span you saw.</a:t>
                      </a:r>
                    </a:p>
                  </a:txBody>
                  <a:tcPr/>
                </a:tc>
                <a:extLst>
                  <a:ext uri="{0D108BD9-81ED-4DB2-BD59-A6C34878D82A}">
                    <a16:rowId xmlns:a16="http://schemas.microsoft.com/office/drawing/2014/main" val="10004"/>
                  </a:ext>
                </a:extLst>
              </a:tr>
              <a:tr h="645659">
                <a:tc>
                  <a:txBody>
                    <a:bodyPr/>
                    <a:lstStyle/>
                    <a:p>
                      <a:r>
                        <a:rPr sz="1200">
                          <a:solidFill>
                            <a:schemeClr val="tx1"/>
                          </a:solidFill>
                        </a:rPr>
                        <a:t>Our log estate is on Splunk Enterprise; we can't move it.</a:t>
                      </a:r>
                    </a:p>
                  </a:txBody>
                  <a:tcPr/>
                </a:tc>
                <a:tc>
                  <a:txBody>
                    <a:bodyPr/>
                    <a:lstStyle/>
                    <a:p>
                      <a:r>
                        <a:rPr sz="1200">
                          <a:solidFill>
                            <a:schemeClr val="tx1"/>
                          </a:solidFill>
                        </a:rPr>
                        <a:t>You don't. Log Observer Connect federates your existing indexers into Observability Cloud.</a:t>
                      </a:r>
                    </a:p>
                  </a:txBody>
                  <a:tcPr/>
                </a:tc>
                <a:extLst>
                  <a:ext uri="{0D108BD9-81ED-4DB2-BD59-A6C34878D82A}">
                    <a16:rowId xmlns:a16="http://schemas.microsoft.com/office/drawing/2014/main" val="10005"/>
                  </a:ext>
                </a:extLst>
              </a:tr>
              <a:tr h="645659">
                <a:tc>
                  <a:txBody>
                    <a:bodyPr/>
                    <a:lstStyle/>
                    <a:p>
                      <a:r>
                        <a:rPr sz="1200">
                          <a:solidFill>
                            <a:schemeClr val="tx1"/>
                          </a:solidFill>
                        </a:rPr>
                        <a:t>How is this different from APM tools that already do tracing?</a:t>
                      </a:r>
                    </a:p>
                  </a:txBody>
                  <a:tcPr/>
                </a:tc>
                <a:tc>
                  <a:txBody>
                    <a:bodyPr/>
                    <a:lstStyle/>
                    <a:p>
                      <a:r>
                        <a:rPr sz="1200" dirty="0">
                          <a:solidFill>
                            <a:schemeClr val="tx1"/>
                          </a:solidFill>
                        </a:rPr>
                        <a:t>Profiling diff on a line of code; business attributes as pivots; auto-inferred Postgres / Redis / Kafka.</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  -  60 minutes against your real services</a:t>
            </a:r>
          </a:p>
        </p:txBody>
      </p:sp>
      <p:sp>
        <p:nvSpPr>
          <p:cNvPr id="3" name="Text Placeholder 2"/>
          <p:cNvSpPr>
            <a:spLocks noGrp="1"/>
          </p:cNvSpPr>
          <p:nvPr>
            <p:ph type="body" sz="quarter" idx="12"/>
          </p:nvPr>
        </p:nvSpPr>
        <p:spPr/>
        <p:txBody>
          <a:bodyPr/>
          <a:lstStyle/>
          <a:p>
            <a:r>
              <a:t>We bring the Splunk OTel collector config</a:t>
            </a:r>
          </a:p>
          <a:p>
            <a:r>
              <a:t>You bring two services - any language stack, any cloud</a:t>
            </a:r>
          </a:p>
          <a:p>
            <a:r>
              <a:t>By the end of the hour they are on the service map  -  in your tenant, with your trace IDs</a:t>
            </a:r>
          </a:p>
          <a:p>
            <a:r>
              <a:t>We share the Helm chart, the chaos controller, and the ITSI service-tree.yaml</a:t>
            </a:r>
          </a:p>
          <a:p>
            <a:r>
              <a:t>Your SRE and payments-ops leads are in the room</a:t>
            </a:r>
          </a:p>
          <a:p>
            <a:r>
              <a:t>If that lands, we scope the wider 24-service motion.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six minutes Splunk Observability took a customer's slow click in RUM, followed the trace through 24 services, opened the structured log line in our existing Splunk Enterprise via LOC, and landed on the regressed line of code in AlwaysOn Profiling - with ~ 1 % CPU overhead in production."</a:t>
            </a:r>
          </a:p>
        </p:txBody>
      </p:sp>
      <p:sp>
        <p:nvSpPr>
          <p:cNvPr id="3" name="Text Placeholder 2"/>
          <p:cNvSpPr>
            <a:spLocks noGrp="1"/>
          </p:cNvSpPr>
          <p:nvPr>
            <p:ph type="body" sz="quarter" idx="12"/>
          </p:nvPr>
        </p:nvSpPr>
        <p:spPr/>
        <p:txBody>
          <a:bodyPr/>
          <a:lstStyle/>
          <a:p>
            <a:r>
              <a:t>NatWest payments demo  -  champion brief, paste-ready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Cisco Dark 05-21-2025">
  <a:themeElements>
    <a:clrScheme name="Cisco Dark 4-16-2025">
      <a:dk1>
        <a:srgbClr val="FFFFFF"/>
      </a:dk1>
      <a:lt1>
        <a:srgbClr val="07182D"/>
      </a:lt1>
      <a:dk2>
        <a:srgbClr val="B4B9C0"/>
      </a:dk2>
      <a:lt2>
        <a:srgbClr val="525E6C"/>
      </a:lt2>
      <a:accent1>
        <a:srgbClr val="02C8FF"/>
      </a:accent1>
      <a:accent2>
        <a:srgbClr val="0A60FF"/>
      </a:accent2>
      <a:accent3>
        <a:srgbClr val="FF007F"/>
      </a:accent3>
      <a:accent4>
        <a:srgbClr val="FF9000"/>
      </a:accent4>
      <a:accent5>
        <a:srgbClr val="D6D6D6"/>
      </a:accent5>
      <a:accent6>
        <a:srgbClr val="6B6B6B"/>
      </a:accent6>
      <a:hlink>
        <a:srgbClr val="FFFFFF"/>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Presentation1" id="{1DDA99DF-BD65-45D7-9209-05BB59C7805C}" vid="{205FDE3D-C9AD-4226-B73C-33B5353AA9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ae0796f-3f79-47f8-9254-3ebe45a397a1" xsi:nil="true"/>
    <lcf76f155ced4ddcb4097134ff3c332f xmlns="2e65d8ee-2953-4673-ad99-2762490141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30E7D1B9548924AAE4F0FF4B9C0678A" ma:contentTypeVersion="14" ma:contentTypeDescription="Create a new document." ma:contentTypeScope="" ma:versionID="6d5c42abccfba39ba0764d42219101b1">
  <xsd:schema xmlns:xsd="http://www.w3.org/2001/XMLSchema" xmlns:xs="http://www.w3.org/2001/XMLSchema" xmlns:p="http://schemas.microsoft.com/office/2006/metadata/properties" xmlns:ns2="2e65d8ee-2953-4673-ad99-276249014155" xmlns:ns3="eae0796f-3f79-47f8-9254-3ebe45a397a1" targetNamespace="http://schemas.microsoft.com/office/2006/metadata/properties" ma:root="true" ma:fieldsID="9f986a869d2c675aa3724b51e9b68646" ns2:_="" ns3:_="">
    <xsd:import namespace="2e65d8ee-2953-4673-ad99-276249014155"/>
    <xsd:import namespace="eae0796f-3f79-47f8-9254-3ebe45a397a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65d8ee-2953-4673-ad99-2762490141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e0796f-3f79-47f8-9254-3ebe45a397a1"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babb613-7296-41bb-af97-faea02701df3}" ma:internalName="TaxCatchAll" ma:showField="CatchAllData" ma:web="eae0796f-3f79-47f8-9254-3ebe45a397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9D2934-02C6-4E49-9050-16670E0D625A}">
  <ds:schemaRefs>
    <ds:schemaRef ds:uri="http://schemas.microsoft.com/sharepoint/v3/contenttype/forms"/>
  </ds:schemaRefs>
</ds:datastoreItem>
</file>

<file path=customXml/itemProps2.xml><?xml version="1.0" encoding="utf-8"?>
<ds:datastoreItem xmlns:ds="http://schemas.openxmlformats.org/officeDocument/2006/customXml" ds:itemID="{1013C9EB-7FF3-4AB9-B62D-F43D840883E9}">
  <ds:schemaRefs>
    <ds:schemaRef ds:uri="http://schemas.microsoft.com/office/2006/documentManagement/types"/>
    <ds:schemaRef ds:uri="http://purl.org/dc/elements/1.1/"/>
    <ds:schemaRef ds:uri="http://purl.org/dc/dcmitype/"/>
    <ds:schemaRef ds:uri="http://www.w3.org/XML/1998/namespace"/>
    <ds:schemaRef ds:uri="http://purl.org/dc/terms/"/>
    <ds:schemaRef ds:uri="http://schemas.microsoft.com/office/2006/metadata/properties"/>
    <ds:schemaRef ds:uri="http://schemas.microsoft.com/office/infopath/2007/PartnerControls"/>
    <ds:schemaRef ds:uri="http://schemas.openxmlformats.org/package/2006/metadata/core-properties"/>
    <ds:schemaRef ds:uri="eae0796f-3f79-47f8-9254-3ebe45a397a1"/>
    <ds:schemaRef ds:uri="2e65d8ee-2953-4673-ad99-276249014155"/>
  </ds:schemaRefs>
</ds:datastoreItem>
</file>

<file path=customXml/itemProps3.xml><?xml version="1.0" encoding="utf-8"?>
<ds:datastoreItem xmlns:ds="http://schemas.openxmlformats.org/officeDocument/2006/customXml" ds:itemID="{C6022F2E-3AB2-43CB-BE15-B6A1F950F95A}">
  <ds:schemaRefs>
    <ds:schemaRef ds:uri="2e65d8ee-2953-4673-ad99-276249014155"/>
    <ds:schemaRef ds:uri="eae0796f-3f79-47f8-9254-3ebe45a397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Cisco Dark 05-21-2025</Template>
  <TotalTime>18</TotalTime>
  <Words>3967</Words>
  <Application>Microsoft Macintosh PowerPoint</Application>
  <PresentationFormat>Widescreen</PresentationFormat>
  <Paragraphs>343</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CiscoSansTT Medium</vt:lpstr>
      <vt:lpstr>Arial</vt:lpstr>
      <vt:lpstr>CiscoSansTT</vt:lpstr>
      <vt:lpstr>Calibri</vt:lpstr>
      <vt:lpstr>Cisco Dark 05-21-2025</vt:lpstr>
      <vt:lpstr>NatWest Payment Platform</vt:lpstr>
      <vt:lpstr>Agenda</vt:lpstr>
      <vt:lpstr>From a customer click to a line of code, in six minutes.</vt:lpstr>
      <vt:lpstr>The platform under the lens</vt:lpstr>
      <vt:lpstr>What you're about to see</vt:lpstr>
      <vt:lpstr>Act I  -  The 6-minute investigation</vt:lpstr>
      <vt:lpstr>Act I  -  1   Customer click  (Splunk RUM)</vt:lpstr>
      <vt:lpstr>Act I  -  2   Slow span  (Splunk APM)</vt:lpstr>
      <vt:lpstr>Act I  -  3   Logs in Context  (LOC)</vt:lpstr>
      <vt:lpstr>Act I  -  4   Line of code  (AlwaysOn Profiling)</vt:lpstr>
      <vt:lpstr>Act I  -  5   Recover</vt:lpstr>
      <vt:lpstr>Act II  -  The breadth tour</vt:lpstr>
      <vt:lpstr>Act II  -  A   Service map  (breadth)</vt:lpstr>
      <vt:lpstr>Act II  -  B   Tag Spotlight  (business questions)</vt:lpstr>
      <vt:lpstr>Act II  -  C   Detectors, SLOs, Synthetics</vt:lpstr>
      <vt:lpstr>Act II  -  D   ITSI: Episodes, KPIs, glass tables</vt:lpstr>
      <vt:lpstr>European customer reach</vt:lpstr>
      <vt:lpstr>Chaos Controller  -  scripted incidents, one click recovery</vt:lpstr>
      <vt:lpstr>One mental model. One place every signal becomes a story.</vt:lpstr>
      <vt:lpstr>Objections you'll hear  -  and the demo answer</vt:lpstr>
      <vt:lpstr>Next step  -  60 minutes against your real services</vt:lpstr>
      <vt:lpstr>"In six minutes Splunk Observability took a customer's slow click in RUM, followed the trace through 24 services, opened the structured log line in our existing Splunk Enterprise via LOC, and landed on the regressed line of code in AlwaysOn Profiling - with ~ 1 % CPU overhead in production."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Paul Bannister (pbannist)</dc:creator>
  <cp:keywords/>
  <dc:description/>
  <cp:lastModifiedBy>Marc Serieys (mserieys)</cp:lastModifiedBy>
  <cp:revision>4</cp:revision>
  <dcterms:created xsi:type="dcterms:W3CDTF">2026-03-30T08:09:01Z</dcterms:created>
  <dcterms:modified xsi:type="dcterms:W3CDTF">2026-05-12T11:14:06Z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0x010100530E7D1B9548924AAE4F0FF4B9C0678A</vt:lpwstr>
  </property>
  <property fmtid="{D5CDD505-2E9C-101B-9397-08002B2CF9AE}" pid="13" name="MediaServiceImageTags">
    <vt:lpwstr/>
  </property>
</Properties>
</file>